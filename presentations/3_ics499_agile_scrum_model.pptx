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20" r:id="rId2"/>
    <p:sldId id="508" r:id="rId3"/>
    <p:sldId id="630" r:id="rId4"/>
    <p:sldId id="636" r:id="rId5"/>
    <p:sldId id="631" r:id="rId6"/>
    <p:sldId id="632" r:id="rId7"/>
    <p:sldId id="633" r:id="rId8"/>
    <p:sldId id="634" r:id="rId9"/>
    <p:sldId id="635" r:id="rId10"/>
    <p:sldId id="629" r:id="rId11"/>
    <p:sldId id="45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1138" y="278"/>
      </p:cViewPr>
      <p:guideLst>
        <p:guide orient="horz" pos="2160"/>
        <p:guide pos="379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8FE2B-FDA6-4D02-B871-AB269EE0737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C33EF-AAFF-4E9F-A97C-80FC75BD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4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8500"/>
            <a:ext cx="6188075" cy="34813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2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3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294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4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406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5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9835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6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8437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7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109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8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223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9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799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15364" name="Slide Number Placeholder 3"/>
          <p:cNvSpPr txBox="1">
            <a:spLocks noGrp="1"/>
          </p:cNvSpPr>
          <p:nvPr/>
        </p:nvSpPr>
        <p:spPr bwMode="auto">
          <a:xfrm>
            <a:off x="3960148" y="8816398"/>
            <a:ext cx="3029585" cy="46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965" tIns="46482" rIns="92965" bIns="46482" anchor="b"/>
          <a:lstStyle/>
          <a:p>
            <a:pPr algn="r"/>
            <a:fld id="{79F94C6D-20E5-4981-88CB-2462DB3C4181}" type="slidenum">
              <a:rPr lang="de-DE">
                <a:latin typeface="Siemens Sans" pitchFamily="2" charset="0"/>
              </a:rPr>
              <a:pPr algn="r"/>
              <a:t>11</a:t>
            </a:fld>
            <a:endParaRPr lang="de-DE" dirty="0">
              <a:latin typeface="Siemens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74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00" y="6483937"/>
            <a:ext cx="2920753" cy="365125"/>
          </a:xfrm>
        </p:spPr>
        <p:txBody>
          <a:bodyPr/>
          <a:lstStyle/>
          <a:p>
            <a:r>
              <a:rPr lang="en-US" dirty="0"/>
              <a:t>CS 4 (Python, Excel, MySQL) by Siva Jasthi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7549-C8F9-8740-97B0-14CD78FB0450}" type="slidenum">
              <a:rPr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FDC8-B993-434F-ACEA-8E8DAF21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0C51-804D-43FB-BFC7-082E26E4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1ACA-200E-4AA3-ADFC-53380F53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CED-033E-40A4-9762-E3CBD2FDBC2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F151B-6B82-47EA-88D2-454A4D4E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B90CF-2609-4175-B503-04A2B3A2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D3CB-8BE7-473E-95AD-CAFDF2648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971507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8C913-51B4-F746-BBF2-AA29BD605CBC}" type="datetimeFigureOut">
              <a:rPr lang="en-US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7549-C8F9-8740-97B0-14CD78FB0450}" type="slidenum">
              <a:rPr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um.org/resources/scrum-framework-post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XU0llRltyF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taskmanager.com/blog/best-scrum-tool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um.org/resources/what-is-scrum" TargetMode="External"/><Relationship Id="rId2" Type="http://schemas.openxmlformats.org/officeDocument/2006/relationships/hyperlink" Target="https://www.atlassian.com/agile/scrum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prime.com/resources/what-is-agile-what-is-scru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828800"/>
            <a:ext cx="12192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 b="1" dirty="0">
                <a:latin typeface="Times New Roman" pitchFamily="18" charset="0"/>
              </a:rPr>
              <a:t>Agile Scrum Methodology</a:t>
            </a:r>
          </a:p>
        </p:txBody>
      </p:sp>
      <p:pic>
        <p:nvPicPr>
          <p:cNvPr id="21507" name="Picture 3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419600" y="4114800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5000"/>
              </a:spcBef>
            </a:pPr>
            <a:r>
              <a:rPr kumimoji="1" lang="en-US" sz="2400" b="1" dirty="0"/>
              <a:t>Siva Jasthi</a:t>
            </a:r>
            <a:endParaRPr kumimoji="1" lang="en-US" sz="2400" dirty="0"/>
          </a:p>
          <a:p>
            <a:pPr eaLnBrk="0" hangingPunct="0">
              <a:spcBef>
                <a:spcPct val="45000"/>
              </a:spcBef>
            </a:pPr>
            <a:r>
              <a:rPr kumimoji="1" lang="en-US" sz="2400" dirty="0"/>
              <a:t>Computer Science and Cybersecurity 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2400" dirty="0"/>
              <a:t>Metropolitan State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44240-5151-4A7D-A4A7-134338953917}"/>
              </a:ext>
            </a:extLst>
          </p:cNvPr>
          <p:cNvSpPr txBox="1"/>
          <p:nvPr/>
        </p:nvSpPr>
        <p:spPr>
          <a:xfrm>
            <a:off x="3112417" y="493821"/>
            <a:ext cx="5967167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ct val="45000"/>
              </a:spcBef>
            </a:pPr>
            <a:r>
              <a:rPr kumimoji="1" lang="en-US" dirty="0">
                <a:latin typeface="Arial" charset="0"/>
              </a:rPr>
              <a:t>ICS499 – Software Engineering and </a:t>
            </a:r>
            <a:r>
              <a:rPr kumimoji="1" lang="en-US">
                <a:latin typeface="Arial" charset="0"/>
              </a:rPr>
              <a:t>Capstone Project</a:t>
            </a:r>
            <a:endParaRPr kumimoji="1" lang="en-US" dirty="0"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Agile Scrum Methodology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Roles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Artifacts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Ceremonies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Tools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References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Outline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-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Agile Scrum Methodology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31C47-7DA6-4AA1-85EA-37640F698ACE}"/>
              </a:ext>
            </a:extLst>
          </p:cNvPr>
          <p:cNvSpPr txBox="1"/>
          <p:nvPr/>
        </p:nvSpPr>
        <p:spPr>
          <a:xfrm>
            <a:off x="2032000" y="544657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https://www.scrum.org/resources/scrum-framework-poster</a:t>
            </a:r>
            <a:r>
              <a:rPr lang="en-US" dirty="0"/>
              <a:t> </a:t>
            </a:r>
          </a:p>
        </p:txBody>
      </p:sp>
      <p:pic>
        <p:nvPicPr>
          <p:cNvPr id="1026" name="Picture 2" descr="Scrum Framework">
            <a:extLst>
              <a:ext uri="{FF2B5EF4-FFF2-40B4-BE49-F238E27FC236}">
                <a16:creationId xmlns:a16="http://schemas.microsoft.com/office/drawing/2014/main" id="{9B310C51-A10C-45F8-9567-870A4046A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46" y="1042095"/>
            <a:ext cx="6735566" cy="420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988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-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>
                <a:solidFill>
                  <a:srgbClr val="04B452"/>
                </a:solidFill>
                <a:latin typeface="+mn-lt"/>
              </a:rPr>
              <a:t>Srum in 10 minutes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1748F6-5819-905A-C12B-A921C8ED1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54" y="852307"/>
            <a:ext cx="8876122" cy="5000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45C007-7E2F-97C7-F258-13BE9CB9CCD4}"/>
              </a:ext>
            </a:extLst>
          </p:cNvPr>
          <p:cNvSpPr txBox="1"/>
          <p:nvPr/>
        </p:nvSpPr>
        <p:spPr>
          <a:xfrm>
            <a:off x="332295" y="633256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https://www.youtube.com/watch?v=XU0llRltyFM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299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Product Owner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Scrum Master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Development Team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Roles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494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Product Backlog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Release Backlog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Iteration Backlog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Artifacts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998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Sprint Planning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Daily Standup meeting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Sprint Planning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Sprint Retrospective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Ceremonies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510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Burnup Chart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Burndown Chart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User Stories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Story Points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4000" dirty="0">
                <a:solidFill>
                  <a:srgbClr val="04B452"/>
                </a:solidFill>
                <a:latin typeface="+mn-lt"/>
              </a:rPr>
              <a:t>Reports / Monitoring</a:t>
            </a:r>
          </a:p>
        </p:txBody>
      </p:sp>
    </p:spTree>
    <p:extLst>
      <p:ext uri="{BB962C8B-B14F-4D97-AF65-F5344CB8AC3E}">
        <p14:creationId xmlns:p14="http://schemas.microsoft.com/office/powerpoint/2010/main" val="5998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1412920" cy="3240087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Numerous tools available (See </a:t>
            </a:r>
            <a:r>
              <a:rPr lang="en-US" altLang="en-US" sz="2400" dirty="0">
                <a:hlinkClick r:id="rId3"/>
              </a:rPr>
              <a:t>https://www.ntaskmanager.com/blog/best-scrum-tools/</a:t>
            </a:r>
            <a:r>
              <a:rPr lang="en-US" altLang="en-US" sz="2400" dirty="0"/>
              <a:t>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/>
              <a:t>We will use GITHUB projects in this course.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GitHub Projects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Jira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Trello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Monday.com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err="1"/>
              <a:t>Trackit</a:t>
            </a: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4000" dirty="0">
                <a:solidFill>
                  <a:srgbClr val="04B452"/>
                </a:solidFill>
                <a:latin typeface="+mn-lt"/>
              </a:rPr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2319213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274"/>
            <a:ext cx="8971175" cy="76146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>
                <a:solidFill>
                  <a:srgbClr val="04B452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6358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9FABF-C2A1-4746-91E5-0B41DC3C41A3}"/>
              </a:ext>
            </a:extLst>
          </p:cNvPr>
          <p:cNvSpPr txBox="1"/>
          <p:nvPr/>
        </p:nvSpPr>
        <p:spPr>
          <a:xfrm>
            <a:off x="116786" y="1038357"/>
            <a:ext cx="1060753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2"/>
              </a:rPr>
              <a:t>https://www.atlassian.com/agile/scrum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3"/>
              </a:rPr>
              <a:t>https://www.scrum.org/resources/what-is-scrum</a:t>
            </a: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4"/>
              </a:rPr>
              <a:t>https://www.cprime.com/resources/what-is-agile-what-is-scrum/</a:t>
            </a: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4A7F7-8A47-4C82-A3CC-4C3D4310CE96}"/>
              </a:ext>
            </a:extLst>
          </p:cNvPr>
          <p:cNvSpPr txBox="1"/>
          <p:nvPr/>
        </p:nvSpPr>
        <p:spPr>
          <a:xfrm>
            <a:off x="1133891" y="5225809"/>
            <a:ext cx="10607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52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</p:spPr>
        <p:txBody>
          <a:bodyPr/>
          <a:lstStyle/>
          <a:p>
            <a:pPr marL="190500" lvl="1" indent="-188913">
              <a:buNone/>
            </a:pPr>
            <a:endParaRPr lang="en-US" dirty="0"/>
          </a:p>
        </p:txBody>
      </p:sp>
      <p:pic>
        <p:nvPicPr>
          <p:cNvPr id="4" name="Picture 2" descr="C:\Program Files\Microsoft Resource DVD Artwork\DVD_ART\Artwork_Imagery\Shapes and Graphics\MSN Illustration Icon\MSN icon help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8100" y="1524001"/>
            <a:ext cx="4495800" cy="426370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040698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186</Words>
  <Application>Microsoft Office PowerPoint</Application>
  <PresentationFormat>Widescreen</PresentationFormat>
  <Paragraphs>70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Comic Sans MS</vt:lpstr>
      <vt:lpstr>Siemens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Q&amp;A</vt:lpstr>
    </vt:vector>
  </TitlesOfParts>
  <Company>Fabric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Andrew Harwood</dc:creator>
  <cp:keywords>C_Unrestricted</cp:keywords>
  <cp:lastModifiedBy>Jasthi, Jasthi (DI SW PLM LCS DEVOPS)</cp:lastModifiedBy>
  <cp:revision>52</cp:revision>
  <dcterms:created xsi:type="dcterms:W3CDTF">2014-09-03T22:10:43Z</dcterms:created>
  <dcterms:modified xsi:type="dcterms:W3CDTF">2026-01-21T17:19:09Z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Confidentiality">
    <vt:lpwstr>Unrestricted</vt:lpwstr>
  </property>
  <property fmtid="{D5CDD505-2E9C-101B-9397-08002B2CF9AE}" pid="3" name="sodocoClasLang">
    <vt:lpwstr>Unrestricted</vt:lpwstr>
  </property>
  <property fmtid="{D5CDD505-2E9C-101B-9397-08002B2CF9AE}" pid="4" name="sodocoClasLangId">
    <vt:i4>0</vt:i4>
  </property>
  <property fmtid="{D5CDD505-2E9C-101B-9397-08002B2CF9AE}" pid="5" name="sodocoClasId">
    <vt:i4>0</vt:i4>
  </property>
  <property fmtid="{D5CDD505-2E9C-101B-9397-08002B2CF9AE}" pid="6" name="MSIP_Label_6f75f480-7803-4ee9-bb54-84d0635fdbe7_Enabled">
    <vt:lpwstr>true</vt:lpwstr>
  </property>
  <property fmtid="{D5CDD505-2E9C-101B-9397-08002B2CF9AE}" pid="7" name="MSIP_Label_6f75f480-7803-4ee9-bb54-84d0635fdbe7_SetDate">
    <vt:lpwstr>2023-05-15T22:21:42Z</vt:lpwstr>
  </property>
  <property fmtid="{D5CDD505-2E9C-101B-9397-08002B2CF9AE}" pid="8" name="MSIP_Label_6f75f480-7803-4ee9-bb54-84d0635fdbe7_Method">
    <vt:lpwstr>Privileged</vt:lpwstr>
  </property>
  <property fmtid="{D5CDD505-2E9C-101B-9397-08002B2CF9AE}" pid="9" name="MSIP_Label_6f75f480-7803-4ee9-bb54-84d0635fdbe7_Name">
    <vt:lpwstr>unrestricted</vt:lpwstr>
  </property>
  <property fmtid="{D5CDD505-2E9C-101B-9397-08002B2CF9AE}" pid="10" name="MSIP_Label_6f75f480-7803-4ee9-bb54-84d0635fdbe7_SiteId">
    <vt:lpwstr>38ae3bcd-9579-4fd4-adda-b42e1495d55a</vt:lpwstr>
  </property>
  <property fmtid="{D5CDD505-2E9C-101B-9397-08002B2CF9AE}" pid="11" name="MSIP_Label_6f75f480-7803-4ee9-bb54-84d0635fdbe7_ActionId">
    <vt:lpwstr>be47fcbd-ce0d-4cd9-8de8-22f2905c970c</vt:lpwstr>
  </property>
  <property fmtid="{D5CDD505-2E9C-101B-9397-08002B2CF9AE}" pid="12" name="MSIP_Label_6f75f480-7803-4ee9-bb54-84d0635fdbe7_ContentBits">
    <vt:lpwstr>0</vt:lpwstr>
  </property>
</Properties>
</file>