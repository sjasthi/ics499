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256" r:id="rId2"/>
    <p:sldId id="314" r:id="rId3"/>
    <p:sldId id="423" r:id="rId4"/>
    <p:sldId id="424" r:id="rId5"/>
    <p:sldId id="422" r:id="rId6"/>
    <p:sldId id="315" r:id="rId7"/>
    <p:sldId id="394" r:id="rId8"/>
    <p:sldId id="316" r:id="rId9"/>
    <p:sldId id="391" r:id="rId10"/>
    <p:sldId id="385" r:id="rId11"/>
    <p:sldId id="420" r:id="rId12"/>
    <p:sldId id="384" r:id="rId13"/>
    <p:sldId id="386" r:id="rId14"/>
    <p:sldId id="392" r:id="rId15"/>
    <p:sldId id="387" r:id="rId16"/>
    <p:sldId id="388" r:id="rId17"/>
    <p:sldId id="389" r:id="rId18"/>
    <p:sldId id="339" r:id="rId19"/>
    <p:sldId id="395" r:id="rId20"/>
  </p:sldIdLst>
  <p:sldSz cx="9144000" cy="6858000" type="screen4x3"/>
  <p:notesSz cx="6992938" cy="9278938"/>
  <p:custDataLst>
    <p:tags r:id="rId23"/>
  </p:custData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bg2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99CCFF"/>
    <a:srgbClr val="CCFFFF"/>
    <a:srgbClr val="336699"/>
    <a:srgbClr val="0099CC"/>
    <a:srgbClr val="CCECFF"/>
    <a:srgbClr val="969696"/>
    <a:srgbClr val="D7F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150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3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defTabSz="915988"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algn="r" defTabSz="915988"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713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defTabSz="915988"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4713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algn="r" defTabSz="915988"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1C2FBDA-E634-4068-A132-14714024DA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645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defTabSz="915988">
              <a:defRPr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algn="r" defTabSz="915988">
              <a:defRPr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3475" y="687388"/>
            <a:ext cx="4676775" cy="35067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422775"/>
            <a:ext cx="5110162" cy="41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defTabSz="915988">
              <a:defRPr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4713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algn="r" defTabSz="915988">
              <a:defRPr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882D5666-EA26-43DB-A423-D6C16F0474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461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23825" indent="-12382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579438" indent="-122238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1035050" indent="-120650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490663" indent="-119063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946275" indent="-11747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98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9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991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		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1031" name="Picture 79" descr="jasthi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4"/>
    </p:custDataLst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78" r:id="rId2"/>
  </p:sldLayoutIdLst>
  <p:transition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SzPct val="200000"/>
        <a:buChar char="•"/>
        <a:defRPr kumimoji="1"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•"/>
        <a:defRPr kumimoji="1" sz="24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–"/>
        <a:defRPr kumimoji="1" sz="20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configuration_management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ndpsoftware.com/git-cheatsheet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esktop.github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esktop.github.com/" TargetMode="Externa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hyperlink" Target="https://www.youtube.com/watch?v=IHaTbJPdB-s" TargetMode="External"/><Relationship Id="rId4" Type="http://schemas.openxmlformats.org/officeDocument/2006/relationships/hyperlink" Target="https://www.youtube.com/watch?v=77W2JSL7-r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053"/>
          <p:cNvSpPr>
            <a:spLocks noChangeArrowheads="1"/>
          </p:cNvSpPr>
          <p:nvPr/>
        </p:nvSpPr>
        <p:spPr bwMode="auto">
          <a:xfrm>
            <a:off x="0" y="1828800"/>
            <a:ext cx="9144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dirty="0"/>
              <a:t>Introduction to SCM</a:t>
            </a:r>
          </a:p>
          <a:p>
            <a:pPr algn="ctr"/>
            <a:r>
              <a:rPr lang="en-US" sz="3600" b="1" dirty="0"/>
              <a:t>(GitHub)</a:t>
            </a:r>
          </a:p>
        </p:txBody>
      </p:sp>
      <p:pic>
        <p:nvPicPr>
          <p:cNvPr id="13315" name="Picture 2054" descr="jasth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2133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Rectangle 2056"/>
          <p:cNvSpPr>
            <a:spLocks noChangeArrowheads="1"/>
          </p:cNvSpPr>
          <p:nvPr/>
        </p:nvSpPr>
        <p:spPr bwMode="auto">
          <a:xfrm>
            <a:off x="2057400" y="4124751"/>
            <a:ext cx="6019800" cy="25146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45000"/>
              </a:spcBef>
            </a:pPr>
            <a:r>
              <a:rPr kumimoji="1" lang="en-US" sz="2000" b="1" dirty="0">
                <a:latin typeface="Arial" charset="0"/>
              </a:rPr>
              <a:t>Siva R Jasthi</a:t>
            </a:r>
            <a:endParaRPr kumimoji="1" lang="en-US" sz="1600" dirty="0">
              <a:latin typeface="Arial" charset="0"/>
            </a:endParaRPr>
          </a:p>
          <a:p>
            <a:pPr>
              <a:spcBef>
                <a:spcPct val="45000"/>
              </a:spcBef>
            </a:pPr>
            <a:r>
              <a:rPr kumimoji="1" lang="en-US" sz="1600" dirty="0">
                <a:latin typeface="Arial" charset="0"/>
              </a:rPr>
              <a:t>Information and Computer Sciences</a:t>
            </a:r>
          </a:p>
          <a:p>
            <a:pPr>
              <a:spcBef>
                <a:spcPct val="45000"/>
              </a:spcBef>
            </a:pPr>
            <a:r>
              <a:rPr kumimoji="1" lang="en-US" sz="1600" dirty="0">
                <a:latin typeface="Arial" charset="0"/>
              </a:rPr>
              <a:t>Metropolitan State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DA495-1349-4207-82F3-0220FB0BDA94}"/>
              </a:ext>
            </a:extLst>
          </p:cNvPr>
          <p:cNvSpPr txBox="1"/>
          <p:nvPr/>
        </p:nvSpPr>
        <p:spPr>
          <a:xfrm>
            <a:off x="1588416" y="493820"/>
            <a:ext cx="5967167" cy="369332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ct val="45000"/>
              </a:spcBef>
            </a:pPr>
            <a:r>
              <a:rPr kumimoji="1" lang="en-US" sz="1800" dirty="0">
                <a:latin typeface="Arial" charset="0"/>
              </a:rPr>
              <a:t>ICS499 – Software Engineering and Capstone Project</a:t>
            </a:r>
          </a:p>
        </p:txBody>
      </p:sp>
    </p:spTree>
    <p:custDataLst>
      <p:tags r:id="rId1"/>
    </p:custData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2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-1524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219200"/>
            <a:ext cx="5105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[1] Introduction to SCM</a:t>
            </a:r>
          </a:p>
          <a:p>
            <a:endParaRPr lang="en-US" sz="2400" dirty="0"/>
          </a:p>
          <a:p>
            <a:r>
              <a:rPr lang="en-US" sz="2400" dirty="0"/>
              <a:t>[2] What is GIT?</a:t>
            </a:r>
          </a:p>
          <a:p>
            <a:endParaRPr lang="en-US" sz="2400" dirty="0"/>
          </a:p>
          <a:p>
            <a:r>
              <a:rPr lang="en-US" sz="2400" dirty="0"/>
              <a:t>[2] What is GitHub?</a:t>
            </a:r>
          </a:p>
          <a:p>
            <a:endParaRPr lang="en-US" sz="2400" dirty="0"/>
          </a:p>
          <a:p>
            <a:r>
              <a:rPr lang="en-US" sz="2400" dirty="0"/>
              <a:t>[3] Wat is GitHub For Desktop?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9032426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94847-632E-BA38-A0B4-EBB29971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A8EB0-9876-9668-C6F0-4E7EAA4B1F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3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1216F9-B471-E6A5-5FF8-D7AE998CACB7}"/>
              </a:ext>
            </a:extLst>
          </p:cNvPr>
          <p:cNvSpPr txBox="1">
            <a:spLocks/>
          </p:cNvSpPr>
          <p:nvPr/>
        </p:nvSpPr>
        <p:spPr>
          <a:xfrm>
            <a:off x="914400" y="-1524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Real Scenario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27934-B621-11A1-3F83-FA5C5711E137}"/>
              </a:ext>
            </a:extLst>
          </p:cNvPr>
          <p:cNvSpPr txBox="1"/>
          <p:nvPr/>
        </p:nvSpPr>
        <p:spPr>
          <a:xfrm>
            <a:off x="304800" y="1219200"/>
            <a:ext cx="7467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SOLO: 1 person – writing code</a:t>
            </a:r>
          </a:p>
          <a:p>
            <a:endParaRPr lang="en-US" sz="2400" dirty="0"/>
          </a:p>
          <a:p>
            <a:r>
              <a:rPr lang="en-US" sz="2400" dirty="0"/>
              <a:t>Team: 10 to 12 people – writing code </a:t>
            </a:r>
          </a:p>
          <a:p>
            <a:endParaRPr lang="en-US" sz="2400" dirty="0"/>
          </a:p>
          <a:p>
            <a:r>
              <a:rPr lang="en-US" sz="2400" dirty="0"/>
              <a:t>Organization: 100 teams (1000 people)</a:t>
            </a:r>
          </a:p>
          <a:p>
            <a:endParaRPr lang="en-US" sz="2400" dirty="0"/>
          </a:p>
          <a:p>
            <a:r>
              <a:rPr lang="en-US" sz="2400" dirty="0"/>
              <a:t>Locations: 5 continents</a:t>
            </a:r>
          </a:p>
          <a:p>
            <a:endParaRPr lang="en-US" sz="2400" dirty="0"/>
          </a:p>
          <a:p>
            <a:r>
              <a:rPr lang="en-US" sz="2400" dirty="0"/>
              <a:t>Goal: All are contributing to the same product</a:t>
            </a:r>
          </a:p>
          <a:p>
            <a:endParaRPr lang="en-US" sz="2400" dirty="0"/>
          </a:p>
          <a:p>
            <a:r>
              <a:rPr lang="en-US" sz="2400" dirty="0"/>
              <a:t>Windows 3,Windows XP, Windows NT, Windows 2000, Windows 11 Professional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186141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3637-F423-0E61-E188-03A6502B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2DC6-1C54-4BB2-E0B5-D01F571702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4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BCB001-F3F9-97DF-521B-4DCF453017DC}"/>
              </a:ext>
            </a:extLst>
          </p:cNvPr>
          <p:cNvSpPr txBox="1">
            <a:spLocks/>
          </p:cNvSpPr>
          <p:nvPr/>
        </p:nvSpPr>
        <p:spPr>
          <a:xfrm>
            <a:off x="914400" y="228600"/>
            <a:ext cx="8229600" cy="990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Software Branches or Versions</a:t>
            </a:r>
          </a:p>
        </p:txBody>
      </p:sp>
      <p:pic>
        <p:nvPicPr>
          <p:cNvPr id="1026" name="Picture 2" descr="Branch Based Versioning. An approach to software versioning that… | by  Simon Maxen | Medium">
            <a:extLst>
              <a:ext uri="{FF2B5EF4-FFF2-40B4-BE49-F238E27FC236}">
                <a16:creationId xmlns:a16="http://schemas.microsoft.com/office/drawing/2014/main" id="{42A3C586-AEDA-DBE2-8612-9BD5A430B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352550"/>
            <a:ext cx="8143875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8070097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5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325541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Software Configuration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219200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us review</a:t>
            </a:r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https://en.wikipedia.org/wiki/Software_configuration_management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2940137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762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[1] What is Git?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410C4-3A95-4E74-AAB4-0D1A32CDE751}"/>
              </a:ext>
            </a:extLst>
          </p:cNvPr>
          <p:cNvSpPr txBox="1"/>
          <p:nvPr/>
        </p:nvSpPr>
        <p:spPr>
          <a:xfrm>
            <a:off x="304801" y="1219200"/>
            <a:ext cx="84582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Git</a:t>
            </a:r>
          </a:p>
          <a:p>
            <a:endParaRPr lang="en-US" sz="2000" dirty="0"/>
          </a:p>
          <a:p>
            <a:r>
              <a:rPr lang="en-US" sz="2000" dirty="0"/>
              <a:t>Git is a Version Control System (VCS).</a:t>
            </a:r>
          </a:p>
          <a:p>
            <a:endParaRPr lang="en-US" sz="2000" dirty="0"/>
          </a:p>
          <a:p>
            <a:r>
              <a:rPr lang="en-US" sz="2000" dirty="0"/>
              <a:t>We use it to track and control changes to source code, configuration files, and documentation.</a:t>
            </a:r>
          </a:p>
          <a:p>
            <a:endParaRPr lang="en-US" sz="2000" dirty="0"/>
          </a:p>
          <a:p>
            <a:r>
              <a:rPr lang="en-US" sz="2000" dirty="0"/>
              <a:t>You can check the history of changes over time.</a:t>
            </a:r>
          </a:p>
          <a:p>
            <a:endParaRPr lang="en-US" sz="2000" dirty="0"/>
          </a:p>
          <a:p>
            <a:r>
              <a:rPr lang="en-US" sz="2000" dirty="0"/>
              <a:t>You can revert back to a previous version if needed.</a:t>
            </a:r>
          </a:p>
          <a:p>
            <a:endParaRPr lang="en-US" sz="2000" dirty="0"/>
          </a:p>
          <a:p>
            <a:r>
              <a:rPr lang="en-US" sz="2000" dirty="0"/>
              <a:t>You can use it solo, but it is particularly useful when working in a team.</a:t>
            </a:r>
          </a:p>
          <a:p>
            <a:endParaRPr lang="en-US" sz="2000" dirty="0"/>
          </a:p>
          <a:p>
            <a:r>
              <a:rPr lang="en-US" sz="2000" dirty="0"/>
              <a:t>Git stores the history of changes in a database called repository.</a:t>
            </a:r>
          </a:p>
          <a:p>
            <a:r>
              <a:rPr lang="en-US" sz="2000" dirty="0"/>
              <a:t>(repository = folder of source files + .git subdirectory created by Git to story the history)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10993-E559-45B5-8930-B83CC5D4D9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335"/>
          <a:stretch/>
        </p:blipFill>
        <p:spPr>
          <a:xfrm>
            <a:off x="5715000" y="1057275"/>
            <a:ext cx="1600200" cy="15335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2255052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7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762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Git - Reference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410C4-3A95-4E74-AAB4-0D1A32CDE751}"/>
              </a:ext>
            </a:extLst>
          </p:cNvPr>
          <p:cNvSpPr txBox="1"/>
          <p:nvPr/>
        </p:nvSpPr>
        <p:spPr>
          <a:xfrm>
            <a:off x="304801" y="1219200"/>
            <a:ext cx="845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Git Reference</a:t>
            </a:r>
          </a:p>
          <a:p>
            <a:r>
              <a:rPr lang="en-US" sz="1800" dirty="0">
                <a:hlinkClick r:id="rId3"/>
              </a:rPr>
              <a:t>https://git-scm.com/docs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Visual Git</a:t>
            </a:r>
          </a:p>
          <a:p>
            <a:r>
              <a:rPr lang="en-US" sz="1800" dirty="0">
                <a:hlinkClick r:id="rId4"/>
              </a:rPr>
              <a:t>https://ndpsoftware.com/git-cheatsheet.html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10993-E559-45B5-8930-B83CC5D4D9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7335"/>
          <a:stretch/>
        </p:blipFill>
        <p:spPr>
          <a:xfrm>
            <a:off x="6705600" y="-62158"/>
            <a:ext cx="1600200" cy="1533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D7AB49-400F-4A7F-B4EB-92609CD33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01" y="1586158"/>
            <a:ext cx="4574012" cy="41743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8869330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8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762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[2] What is GitHub?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410C4-3A95-4E74-AAB4-0D1A32CDE751}"/>
              </a:ext>
            </a:extLst>
          </p:cNvPr>
          <p:cNvSpPr txBox="1"/>
          <p:nvPr/>
        </p:nvSpPr>
        <p:spPr>
          <a:xfrm>
            <a:off x="304801" y="1219200"/>
            <a:ext cx="5410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GitHub</a:t>
            </a:r>
          </a:p>
          <a:p>
            <a:endParaRPr lang="en-US" sz="2000" dirty="0"/>
          </a:p>
          <a:p>
            <a:r>
              <a:rPr lang="en-US" sz="2000" dirty="0"/>
              <a:t>Don’t we need a place to host our local repositories to collaborate with others?</a:t>
            </a:r>
          </a:p>
          <a:p>
            <a:endParaRPr lang="en-US" sz="2000" dirty="0"/>
          </a:p>
          <a:p>
            <a:r>
              <a:rPr lang="en-US" sz="2000" dirty="0"/>
              <a:t>GitHub is such a place: it is a hosting service for Git repositories on the internet.</a:t>
            </a:r>
          </a:p>
          <a:p>
            <a:endParaRPr lang="en-US" sz="2000" dirty="0"/>
          </a:p>
          <a:p>
            <a:r>
              <a:rPr lang="en-US" sz="2000" dirty="0"/>
              <a:t>And it is free to use for open source projects (which are public. All others can see your code).</a:t>
            </a:r>
          </a:p>
          <a:p>
            <a:endParaRPr lang="en-US" sz="2000" dirty="0"/>
          </a:p>
          <a:p>
            <a:r>
              <a:rPr lang="en-US" sz="2000" dirty="0"/>
              <a:t>GitHub is also social networking site for developers.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E403E6-BE1B-482A-841C-18CB6DFB02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-4969" r="-2665" b="4969"/>
          <a:stretch/>
        </p:blipFill>
        <p:spPr>
          <a:xfrm>
            <a:off x="6705600" y="1738312"/>
            <a:ext cx="1600200" cy="15335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658253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58200" y="6629400"/>
            <a:ext cx="533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201DAA7-D7B7-4AEC-9760-CE018CC47466}" type="slidenum">
              <a:rPr lang="en-GB" smtClean="0"/>
              <a:pPr>
                <a:defRPr/>
              </a:pPr>
              <a:t>9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762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[3] What is GitHub Desktop?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410C4-3A95-4E74-AAB4-0D1A32CDE751}"/>
              </a:ext>
            </a:extLst>
          </p:cNvPr>
          <p:cNvSpPr txBox="1"/>
          <p:nvPr/>
        </p:nvSpPr>
        <p:spPr>
          <a:xfrm>
            <a:off x="304801" y="1219200"/>
            <a:ext cx="5410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GitHub Desktop</a:t>
            </a:r>
          </a:p>
          <a:p>
            <a:endParaRPr lang="en-US" sz="2000" dirty="0"/>
          </a:p>
          <a:p>
            <a:r>
              <a:rPr lang="en-US" sz="2000" dirty="0"/>
              <a:t>The client application provides a GUI (Graphical User Interface) front-end to the most common git commands.</a:t>
            </a:r>
          </a:p>
          <a:p>
            <a:endParaRPr lang="en-US" sz="2000" dirty="0"/>
          </a:p>
          <a:p>
            <a:r>
              <a:rPr lang="en-US" sz="2000" dirty="0"/>
              <a:t>GitHub Desktop simplifies the development workflows and tasks.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E403E6-BE1B-482A-841C-18CB6DFB02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-4969" r="-2665" b="4969"/>
          <a:stretch/>
        </p:blipFill>
        <p:spPr>
          <a:xfrm>
            <a:off x="6705600" y="1738312"/>
            <a:ext cx="1600200" cy="15335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9040619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ED92FB-322B-48FD-96FF-73A92059F6F2}"/>
              </a:ext>
            </a:extLst>
          </p:cNvPr>
          <p:cNvSpPr/>
          <p:nvPr/>
        </p:nvSpPr>
        <p:spPr>
          <a:xfrm>
            <a:off x="228600" y="1219200"/>
            <a:ext cx="35477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hlinkClick r:id="rId2"/>
              </a:rPr>
              <a:t>https://desktop.github.com/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BA840-CA87-42EC-928F-A2211A6B6CF4}"/>
              </a:ext>
            </a:extLst>
          </p:cNvPr>
          <p:cNvSpPr txBox="1"/>
          <p:nvPr/>
        </p:nvSpPr>
        <p:spPr>
          <a:xfrm>
            <a:off x="866498" y="228600"/>
            <a:ext cx="7411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Download GitHub Desktop Client from this 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F2180-270E-4BFA-B95F-05D1FADEA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19811"/>
            <a:ext cx="7458269" cy="41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90939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ACDEA5-6AF1-4427-83D0-ADA797ED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718612" cy="59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82511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3935" y="3214206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b="0" dirty="0"/>
              <a:t>GitHub for Desktop</a:t>
            </a:r>
            <a:endParaRPr lang="en-US" sz="2400" b="0" dirty="0"/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2400" b="0" dirty="0">
                <a:hlinkClick r:id="rId3"/>
              </a:rPr>
              <a:t>http://desktop.github.com</a:t>
            </a:r>
            <a:r>
              <a:rPr lang="en-US" sz="2400" b="0" dirty="0"/>
              <a:t> (download)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2400" b="0" dirty="0">
                <a:hlinkClick r:id="rId4"/>
              </a:rPr>
              <a:t>https://www.youtube.com/watch?v=77W2JSL7-r8</a:t>
            </a:r>
            <a:r>
              <a:rPr lang="en-US" sz="2400" b="0" dirty="0"/>
              <a:t> </a:t>
            </a:r>
          </a:p>
          <a:p>
            <a:pPr eaLnBrk="1" hangingPunct="1"/>
            <a:endParaRPr 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6A31B-9AD0-4436-9125-5339EDD23F74}"/>
              </a:ext>
            </a:extLst>
          </p:cNvPr>
          <p:cNvSpPr txBox="1"/>
          <p:nvPr/>
        </p:nvSpPr>
        <p:spPr>
          <a:xfrm>
            <a:off x="1066800" y="22860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GitHub for Desktop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351515-9A79-4553-8116-212DFB2B755E}"/>
              </a:ext>
            </a:extLst>
          </p:cNvPr>
          <p:cNvSpPr txBox="1">
            <a:spLocks/>
          </p:cNvSpPr>
          <p:nvPr/>
        </p:nvSpPr>
        <p:spPr>
          <a:xfrm>
            <a:off x="31102" y="1918901"/>
            <a:ext cx="8711682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b="0" dirty="0"/>
              <a:t>Learn Git in 20 minutes</a:t>
            </a:r>
          </a:p>
          <a:p>
            <a:r>
              <a:rPr lang="en-US" dirty="0">
                <a:hlinkClick r:id="rId5"/>
              </a:rPr>
              <a:t>https://www.youtube.com/watch?v=IHaTbJPdB-s</a:t>
            </a:r>
            <a:r>
              <a:rPr lang="en-US" dirty="0"/>
              <a:t> </a:t>
            </a:r>
          </a:p>
          <a:p>
            <a:pPr eaLnBrk="1" hangingPunct="1"/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A41B1-B836-4A87-839C-AF0E60FF3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535" y="1066800"/>
            <a:ext cx="2286000" cy="12316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A10A75-A1CF-40B9-A893-5AEEF19BAA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0058" y="3296721"/>
            <a:ext cx="2743200" cy="13377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566855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BA840-CA87-42EC-928F-A2211A6B6CF4}"/>
              </a:ext>
            </a:extLst>
          </p:cNvPr>
          <p:cNvSpPr txBox="1"/>
          <p:nvPr/>
        </p:nvSpPr>
        <p:spPr>
          <a:xfrm>
            <a:off x="866498" y="228600"/>
            <a:ext cx="5394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Three ways of creating a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95D32-40E3-4B8A-9C38-50F1CE4E9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" y="1143000"/>
            <a:ext cx="4642338" cy="5486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EEC573-8E85-4A3F-ACCB-3BF84860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295400"/>
            <a:ext cx="452234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0051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BA840-CA87-42EC-928F-A2211A6B6CF4}"/>
              </a:ext>
            </a:extLst>
          </p:cNvPr>
          <p:cNvSpPr txBox="1"/>
          <p:nvPr/>
        </p:nvSpPr>
        <p:spPr>
          <a:xfrm>
            <a:off x="866498" y="228600"/>
            <a:ext cx="5394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Three ways of creating a Repository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E3D8CA-F5C8-4BF0-9951-B987C4517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163499"/>
              </p:ext>
            </p:extLst>
          </p:nvPr>
        </p:nvGraphicFramePr>
        <p:xfrm>
          <a:off x="152400" y="1219200"/>
          <a:ext cx="8763000" cy="5308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41669298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228021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What to do?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964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You already have a repository on github.com</a:t>
                      </a:r>
                    </a:p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You want to clone that to a local directory on your desktop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Clone a Repository from the internet..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9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You have an application (or directory) on your local machine. </a:t>
                      </a:r>
                    </a:p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And you want to make it as a git repository.</a:t>
                      </a:r>
                    </a:p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You will also get an opportunity to push it to github.com once you make it as a git repository.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Create new repository on your hard drive..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754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If you already have a repository locally (*), then you can add it to make it visible in GitHub Desktop.</a:t>
                      </a:r>
                    </a:p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* You may have temporarily removed it from GitHub Desktop to reduce the clutter.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Add an existing repository from your hard drive..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802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621375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F99A2F-9EA2-4AFC-A634-D425B0DB6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60" y="1143000"/>
            <a:ext cx="4260272" cy="1295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8CDF78-E6DC-437E-83C8-B13BDAC9A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267200"/>
            <a:ext cx="3722914" cy="21544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15CA46-8878-4F23-A62F-A2296AB60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966143"/>
            <a:ext cx="4038600" cy="1224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3E9975-E2BB-4CAD-B93A-685F2160F549}"/>
              </a:ext>
            </a:extLst>
          </p:cNvPr>
          <p:cNvSpPr txBox="1"/>
          <p:nvPr/>
        </p:nvSpPr>
        <p:spPr>
          <a:xfrm>
            <a:off x="866498" y="228600"/>
            <a:ext cx="5535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[1] Create a Repository from Internet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7A21AA1-F832-4C68-8B0A-1368B0A8E05D}"/>
              </a:ext>
            </a:extLst>
          </p:cNvPr>
          <p:cNvSpPr/>
          <p:nvPr/>
        </p:nvSpPr>
        <p:spPr bwMode="auto">
          <a:xfrm>
            <a:off x="528136" y="4732100"/>
            <a:ext cx="4260272" cy="122460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</a:rPr>
              <a:t>For PHP applications, your local directory will be in your “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</a:rPr>
              <a:t>xampp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</a:rPr>
              <a:t>/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</a:rPr>
              <a:t>htdocs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</a:rPr>
              <a:t>” directory</a:t>
            </a:r>
          </a:p>
        </p:txBody>
      </p:sp>
    </p:spTree>
    <p:extLst>
      <p:ext uri="{BB962C8B-B14F-4D97-AF65-F5344CB8AC3E}">
        <p14:creationId xmlns:p14="http://schemas.microsoft.com/office/powerpoint/2010/main" val="650945370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3E9975-E2BB-4CAD-B93A-685F2160F549}"/>
              </a:ext>
            </a:extLst>
          </p:cNvPr>
          <p:cNvSpPr txBox="1"/>
          <p:nvPr/>
        </p:nvSpPr>
        <p:spPr>
          <a:xfrm>
            <a:off x="866498" y="228600"/>
            <a:ext cx="7141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[2] Create a new Repository on your Hard Drive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98D90-2A85-46A8-B451-A1931E01F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143000"/>
            <a:ext cx="47148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37732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3E9975-E2BB-4CAD-B93A-685F2160F549}"/>
              </a:ext>
            </a:extLst>
          </p:cNvPr>
          <p:cNvSpPr txBox="1"/>
          <p:nvPr/>
        </p:nvSpPr>
        <p:spPr>
          <a:xfrm>
            <a:off x="866498" y="228600"/>
            <a:ext cx="7862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[3] Add an existing Repository from your Hard Drive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801B6-E8D7-4B5D-B424-0CE3DAA53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76400"/>
            <a:ext cx="47720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21535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03E601-B1E1-456F-B91D-A62F899A15B2}"/>
              </a:ext>
            </a:extLst>
          </p:cNvPr>
          <p:cNvSpPr txBox="1">
            <a:spLocks/>
          </p:cNvSpPr>
          <p:nvPr/>
        </p:nvSpPr>
        <p:spPr>
          <a:xfrm>
            <a:off x="914400" y="7620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Concept: Staging vs Committing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B1BE0-79C5-42F6-AD1A-B93E4D7FB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057399"/>
            <a:ext cx="3952875" cy="2428875"/>
          </a:xfrm>
          <a:prstGeom prst="rect">
            <a:avLst/>
          </a:prstGeom>
        </p:spPr>
      </p:pic>
      <p:pic>
        <p:nvPicPr>
          <p:cNvPr id="1026" name="Picture 2" descr="Image result for git staging area">
            <a:extLst>
              <a:ext uri="{FF2B5EF4-FFF2-40B4-BE49-F238E27FC236}">
                <a16:creationId xmlns:a16="http://schemas.microsoft.com/office/drawing/2014/main" id="{0A30B42C-3582-4DC3-8712-753B5D2DE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62" y="2057399"/>
            <a:ext cx="3762086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3425658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8A459-69DF-4622-8CC0-C719F23BEED9}"/>
              </a:ext>
            </a:extLst>
          </p:cNvPr>
          <p:cNvSpPr txBox="1"/>
          <p:nvPr/>
        </p:nvSpPr>
        <p:spPr>
          <a:xfrm>
            <a:off x="838200" y="152400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Recap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8FBF4D-7E41-4D4B-82E3-B5E50DC87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046309"/>
              </p:ext>
            </p:extLst>
          </p:nvPr>
        </p:nvGraphicFramePr>
        <p:xfrm>
          <a:off x="457200" y="1219200"/>
          <a:ext cx="60960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76448195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57445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What is…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94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Git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557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GitHub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650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GitHub Desktop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828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Fork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096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Clone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5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Staging (Add)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158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Commit 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354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Push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2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Pull Request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70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Fetch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6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Merge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1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Pull (fetch + merge)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0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Sync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7056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31710522"/>
      </p:ext>
    </p:extLst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Empty">
  <a:themeElements>
    <a:clrScheme name="Empty 8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FFC94C"/>
      </a:hlink>
      <a:folHlink>
        <a:srgbClr val="F07600"/>
      </a:folHlink>
    </a:clrScheme>
    <a:fontScheme name="Empt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mpty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mpty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mpty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C:\win32app\MSOffice\Templates\eds\Empty.pot</Template>
  <TotalTime>3510</TotalTime>
  <Words>663</Words>
  <Application>Microsoft Office PowerPoint</Application>
  <PresentationFormat>On-screen Show (4:3)</PresentationFormat>
  <Paragraphs>132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Empty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Metaphase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Itasca Lessons Learned</dc:title>
  <dc:creator>lsheets</dc:creator>
  <cp:keywords>C_Unrestricted</cp:keywords>
  <cp:lastModifiedBy>Jasthi, Jasthi (DI SW PLM LCS DEVOPS)</cp:lastModifiedBy>
  <cp:revision>350</cp:revision>
  <cp:lastPrinted>2001-10-31T19:38:05Z</cp:lastPrinted>
  <dcterms:created xsi:type="dcterms:W3CDTF">2001-10-29T21:13:45Z</dcterms:created>
  <dcterms:modified xsi:type="dcterms:W3CDTF">2025-04-18T15:41:13Z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EA063003-CB52-4A02-8FAE-7357FA2351D1</vt:lpwstr>
  </property>
  <property fmtid="{D5CDD505-2E9C-101B-9397-08002B2CF9AE}" pid="3" name="ArticulatePath">
    <vt:lpwstr>Introduction_I18N and L10N_Unicode</vt:lpwstr>
  </property>
  <property fmtid="{D5CDD505-2E9C-101B-9397-08002B2CF9AE}" pid="4" name="Document Confidentiality">
    <vt:lpwstr>Unrestricted</vt:lpwstr>
  </property>
  <property fmtid="{D5CDD505-2E9C-101B-9397-08002B2CF9AE}" pid="5" name="MSIP_Label_6f75f480-7803-4ee9-bb54-84d0635fdbe7_Enabled">
    <vt:lpwstr>true</vt:lpwstr>
  </property>
  <property fmtid="{D5CDD505-2E9C-101B-9397-08002B2CF9AE}" pid="6" name="MSIP_Label_6f75f480-7803-4ee9-bb54-84d0635fdbe7_SetDate">
    <vt:lpwstr>2023-06-26T23:10:51Z</vt:lpwstr>
  </property>
  <property fmtid="{D5CDD505-2E9C-101B-9397-08002B2CF9AE}" pid="7" name="MSIP_Label_6f75f480-7803-4ee9-bb54-84d0635fdbe7_Method">
    <vt:lpwstr>Privileged</vt:lpwstr>
  </property>
  <property fmtid="{D5CDD505-2E9C-101B-9397-08002B2CF9AE}" pid="8" name="MSIP_Label_6f75f480-7803-4ee9-bb54-84d0635fdbe7_Name">
    <vt:lpwstr>unrestricted</vt:lpwstr>
  </property>
  <property fmtid="{D5CDD505-2E9C-101B-9397-08002B2CF9AE}" pid="9" name="MSIP_Label_6f75f480-7803-4ee9-bb54-84d0635fdbe7_SiteId">
    <vt:lpwstr>38ae3bcd-9579-4fd4-adda-b42e1495d55a</vt:lpwstr>
  </property>
  <property fmtid="{D5CDD505-2E9C-101B-9397-08002B2CF9AE}" pid="10" name="MSIP_Label_6f75f480-7803-4ee9-bb54-84d0635fdbe7_ActionId">
    <vt:lpwstr>00d0d77e-bcdc-4c9a-884c-4fbbb569c6e2</vt:lpwstr>
  </property>
  <property fmtid="{D5CDD505-2E9C-101B-9397-08002B2CF9AE}" pid="11" name="MSIP_Label_6f75f480-7803-4ee9-bb54-84d0635fdbe7_ContentBits">
    <vt:lpwstr>0</vt:lpwstr>
  </property>
</Properties>
</file>