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420" r:id="rId2"/>
    <p:sldId id="508" r:id="rId3"/>
    <p:sldId id="271" r:id="rId4"/>
    <p:sldId id="276" r:id="rId5"/>
    <p:sldId id="277" r:id="rId6"/>
    <p:sldId id="274" r:id="rId7"/>
    <p:sldId id="630" r:id="rId8"/>
    <p:sldId id="629" r:id="rId9"/>
    <p:sldId id="45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B4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79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8FE2B-FDA6-4D02-B871-AB269EE07370}" type="datetimeFigureOut">
              <a:rPr lang="en-US" smtClean="0"/>
              <a:t>5/15/2023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C33EF-AAFF-4E9F-A97C-80FC75BD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47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FD9016E-14DF-4FDF-A7E3-F5030B969C49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0050" y="698500"/>
            <a:ext cx="6188075" cy="34813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08488"/>
            <a:ext cx="5126037" cy="4179887"/>
          </a:xfrm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31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3E19AE-0F3D-4383-AFC8-DEEFD0113C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5pPr>
            <a:lvl6pPr marL="25146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6pPr>
            <a:lvl7pPr marL="29718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7pPr>
            <a:lvl8pPr marL="34290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8pPr>
            <a:lvl9pPr marL="3886200" indent="-228600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Times New Roman" panose="02020603050405020304" pitchFamily="18" charset="0"/>
              </a:defRPr>
            </a:lvl9pPr>
          </a:lstStyle>
          <a:p>
            <a:fld id="{B01CF545-0372-4A5E-BE67-21D88B3675E1}" type="slidenum">
              <a:rPr lang="en-US" altLang="en-US" sz="1200">
                <a:solidFill>
                  <a:schemeClr val="bg1"/>
                </a:solidFill>
                <a:latin typeface="Comic Sans MS" panose="030F0702030302020204" pitchFamily="66" charset="0"/>
              </a:rPr>
              <a:pPr/>
              <a:t>2</a:t>
            </a:fld>
            <a:endParaRPr lang="en-US" altLang="en-US" sz="120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9D0EA2B-419B-4D98-ADA5-46799ABE52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BC57F771-C8F7-4907-A111-41B7C6466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15364" name="Slide Number Placeholder 3"/>
          <p:cNvSpPr txBox="1">
            <a:spLocks noGrp="1"/>
          </p:cNvSpPr>
          <p:nvPr/>
        </p:nvSpPr>
        <p:spPr bwMode="auto">
          <a:xfrm>
            <a:off x="3960148" y="8816398"/>
            <a:ext cx="3029585" cy="464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965" tIns="46482" rIns="92965" bIns="46482" anchor="b"/>
          <a:lstStyle/>
          <a:p>
            <a:pPr algn="r"/>
            <a:fld id="{79F94C6D-20E5-4981-88CB-2462DB3C4181}" type="slidenum">
              <a:rPr lang="de-DE">
                <a:latin typeface="Siemens Sans" pitchFamily="2" charset="0"/>
              </a:rPr>
              <a:pPr algn="r"/>
              <a:t>9</a:t>
            </a:fld>
            <a:endParaRPr lang="de-DE" dirty="0">
              <a:latin typeface="Siemens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0374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900" y="6483937"/>
            <a:ext cx="2920753" cy="365125"/>
          </a:xfrm>
        </p:spPr>
        <p:txBody>
          <a:bodyPr/>
          <a:lstStyle/>
          <a:p>
            <a:r>
              <a:rPr lang="en-US" dirty="0"/>
              <a:t>CS 4 (Python, Excel, MySQL) by Siva Jasthi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17549-C8F9-8740-97B0-14CD78FB0450}" type="slidenum">
              <a:rPr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FDC8-B993-434F-ACEA-8E8DAF21F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70C51-804D-43FB-BFC7-082E26E42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51ACA-200E-4AA3-ADFC-53380F53F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CED-033E-40A4-9762-E3CBD2FDBC2F}" type="datetimeFigureOut">
              <a:rPr lang="en-US" smtClean="0"/>
              <a:t>5/15/2023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F151B-6B82-47EA-88D2-454A4D4E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B90CF-2609-4175-B503-04A2B3A2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E3D3CB-8BE7-473E-95AD-CAFDF26480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Siva R Jasthi                                                                          Programming with elementary data structures</a:t>
            </a:r>
            <a:endParaRPr lang="en-GB" sz="1400" b="0">
              <a:solidFill>
                <a:srgbClr val="FFFFFF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707887-EE06-4E3F-9515-1ED64E674293}" type="slidenum">
              <a:rPr lang="en-GB"/>
              <a:pPr>
                <a:defRPr/>
              </a:pPr>
              <a:t>‹#›</a:t>
            </a:fld>
            <a:endParaRPr lang="en-GB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3971507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38C913-51B4-F746-BBF2-AA29BD605CBC}" type="datetimeFigureOut">
              <a:rPr lang="en-US"/>
              <a:pPr/>
              <a:t>5/15/2023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17549-C8F9-8740-97B0-14CD78FB0450}" type="slidenum">
              <a:rPr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Waterfall_model" TargetMode="External"/><Relationship Id="rId2" Type="http://schemas.openxmlformats.org/officeDocument/2006/relationships/hyperlink" Target="https://www.lucidchart.com/blog/pros-and-cons-of-waterfall-methodology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ChangeArrowheads="1"/>
          </p:cNvSpPr>
          <p:nvPr/>
        </p:nvSpPr>
        <p:spPr bwMode="auto">
          <a:xfrm>
            <a:off x="0" y="1828800"/>
            <a:ext cx="12192000" cy="2133600"/>
          </a:xfrm>
          <a:prstGeom prst="rect">
            <a:avLst/>
          </a:prstGeom>
          <a:solidFill>
            <a:srgbClr val="89A5C7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3200" b="1" dirty="0">
                <a:latin typeface="Times New Roman" pitchFamily="18" charset="0"/>
              </a:rPr>
              <a:t>SDLC: Waterfall Model</a:t>
            </a:r>
          </a:p>
        </p:txBody>
      </p:sp>
      <p:pic>
        <p:nvPicPr>
          <p:cNvPr id="21507" name="Picture 3" descr="jasthi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0" y="2133600"/>
            <a:ext cx="1295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4419600" y="4114800"/>
            <a:ext cx="6019800" cy="2514600"/>
          </a:xfrm>
          <a:prstGeom prst="rect">
            <a:avLst/>
          </a:prstGeom>
          <a:solidFill>
            <a:srgbClr val="00FFFF">
              <a:alpha val="50195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spcBef>
                <a:spcPct val="45000"/>
              </a:spcBef>
            </a:pPr>
            <a:r>
              <a:rPr kumimoji="1" lang="en-US" sz="2400" b="1" dirty="0"/>
              <a:t>Siva Jasthi</a:t>
            </a:r>
            <a:endParaRPr kumimoji="1" lang="en-US" sz="2400" dirty="0"/>
          </a:p>
          <a:p>
            <a:pPr eaLnBrk="0" hangingPunct="0">
              <a:spcBef>
                <a:spcPct val="45000"/>
              </a:spcBef>
            </a:pPr>
            <a:r>
              <a:rPr kumimoji="1" lang="en-US" sz="2400" dirty="0"/>
              <a:t>Computer Science and Cybersecurity </a:t>
            </a:r>
          </a:p>
          <a:p>
            <a:pPr eaLnBrk="0" hangingPunct="0">
              <a:spcBef>
                <a:spcPct val="45000"/>
              </a:spcBef>
            </a:pPr>
            <a:r>
              <a:rPr kumimoji="1" lang="en-US" sz="2400" dirty="0"/>
              <a:t>Metropolitan State University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244240-5151-4A7D-A4A7-134338953917}"/>
              </a:ext>
            </a:extLst>
          </p:cNvPr>
          <p:cNvSpPr txBox="1"/>
          <p:nvPr/>
        </p:nvSpPr>
        <p:spPr>
          <a:xfrm>
            <a:off x="3112417" y="493821"/>
            <a:ext cx="5967167" cy="369332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ct val="45000"/>
              </a:spcBef>
            </a:pPr>
            <a:r>
              <a:rPr kumimoji="1" lang="en-US" dirty="0">
                <a:latin typeface="Arial" charset="0"/>
              </a:rPr>
              <a:t>ICS499 – Software Engineering and </a:t>
            </a:r>
            <a:r>
              <a:rPr kumimoji="1" lang="en-US">
                <a:latin typeface="Arial" charset="0"/>
              </a:rPr>
              <a:t>Capstone Project</a:t>
            </a:r>
            <a:endParaRPr kumimoji="1" lang="en-US" dirty="0">
              <a:latin typeface="Arial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>
            <a:extLst>
              <a:ext uri="{FF2B5EF4-FFF2-40B4-BE49-F238E27FC236}">
                <a16:creationId xmlns:a16="http://schemas.microsoft.com/office/drawing/2014/main" id="{2AC4633F-63E3-4C8B-9368-56E2CF2FC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EA283B-0123-420A-90C4-A3756B87BC52}" type="slidenum">
              <a:rPr lang="en-US" altLang="en-US" sz="1400">
                <a:solidFill>
                  <a:schemeClr val="tx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>
              <a:solidFill>
                <a:schemeClr val="tx2"/>
              </a:solidFill>
            </a:endParaRP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0C84C7E-382D-45A6-88E8-743753D89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3707" y="1411427"/>
            <a:ext cx="10359884" cy="3240087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Software Development Life Cycle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Waterfall Model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Strengths and Limitations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62B0DE-8CB5-44FA-97A4-3CE39D671BCB}"/>
              </a:ext>
            </a:extLst>
          </p:cNvPr>
          <p:cNvSpPr txBox="1">
            <a:spLocks noChangeArrowheads="1"/>
          </p:cNvSpPr>
          <p:nvPr/>
        </p:nvSpPr>
        <p:spPr>
          <a:xfrm>
            <a:off x="255106" y="142805"/>
            <a:ext cx="7732713" cy="450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4000" dirty="0">
                <a:solidFill>
                  <a:srgbClr val="04B452"/>
                </a:solidFill>
                <a:latin typeface="+mn-lt"/>
              </a:rPr>
              <a:t>Outline</a:t>
            </a:r>
            <a:endParaRPr lang="en-US" altLang="en-US" sz="4000" dirty="0">
              <a:solidFill>
                <a:srgbClr val="04B452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17B3B55-C78D-469C-A175-034DBEAF1E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960BE6-CBE7-40BC-B918-8795171B5D31}" type="slidenum">
              <a:rPr lang="en-GB" altLang="en-US"/>
              <a:pPr/>
              <a:t>3</a:t>
            </a:fld>
            <a:endParaRPr lang="en-GB" altLang="en-US">
              <a:solidFill>
                <a:srgbClr val="FFFFFF"/>
              </a:solidFill>
            </a:endParaRPr>
          </a:p>
        </p:txBody>
      </p:sp>
      <p:sp>
        <p:nvSpPr>
          <p:cNvPr id="184322" name="Rectangle 2">
            <a:extLst>
              <a:ext uri="{FF2B5EF4-FFF2-40B4-BE49-F238E27FC236}">
                <a16:creationId xmlns:a16="http://schemas.microsoft.com/office/drawing/2014/main" id="{BE344BF5-EEFC-4486-9DE7-59644A523C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9541"/>
            <a:ext cx="10972800" cy="809445"/>
          </a:xfrm>
        </p:spPr>
        <p:txBody>
          <a:bodyPr/>
          <a:lstStyle/>
          <a:p>
            <a:pPr algn="l"/>
            <a:r>
              <a:rPr lang="en-US" altLang="en-US" b="0" dirty="0"/>
              <a:t>Software Development  Life Cycle</a:t>
            </a:r>
            <a:endParaRPr lang="en-US" altLang="en-US" dirty="0"/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B0AF1C60-BB11-4AA0-A6FB-8312A6459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en-US" dirty="0"/>
              <a:t>Let us ask some questions...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What needs to be done?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How can we do that?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Let us do it! Let us code it!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Is this the best way? Any other ways of doing it? What are pros and cons?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Is it working as it is supposed to work?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What do we tell our customers?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Let us ship/sell it!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Let us fix bugs, maintain it, improve it! 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 err="1"/>
              <a:t>Uff</a:t>
            </a:r>
            <a:r>
              <a:rPr lang="en-US" altLang="en-US" sz="2000" dirty="0"/>
              <a:t>….! We are done with that technology. Let us obsolete it and  move on to better technology..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277EFDF-D9C3-4D03-B3BC-CB4579E64C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FB19C8-AC0B-4748-B770-DCDBF74B8E18}" type="slidenum">
              <a:rPr lang="en-GB" altLang="en-US"/>
              <a:pPr/>
              <a:t>4</a:t>
            </a:fld>
            <a:endParaRPr lang="en-GB" altLang="en-US">
              <a:solidFill>
                <a:srgbClr val="FFFFFF"/>
              </a:solidFill>
            </a:endParaRPr>
          </a:p>
        </p:txBody>
      </p:sp>
      <p:sp>
        <p:nvSpPr>
          <p:cNvPr id="189442" name="Rectangle 2">
            <a:extLst>
              <a:ext uri="{FF2B5EF4-FFF2-40B4-BE49-F238E27FC236}">
                <a16:creationId xmlns:a16="http://schemas.microsoft.com/office/drawing/2014/main" id="{5230F7D5-B7FB-43CA-845A-37BD87A3E8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972800" cy="731836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b="0" dirty="0"/>
              <a:t>Software Development  Life Cycle</a:t>
            </a:r>
            <a:endParaRPr lang="en-US" altLang="en-US" dirty="0"/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D12976BB-B98E-49B2-811B-9B8C9183E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en-US" dirty="0"/>
              <a:t>Let us map those questions to the life cycle steps.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What needs to be done?  - </a:t>
            </a:r>
            <a:r>
              <a:rPr lang="en-US" altLang="en-US" sz="2000" u="sng" dirty="0"/>
              <a:t>Requirements</a:t>
            </a:r>
            <a:endParaRPr lang="en-US" altLang="en-US" sz="2000" dirty="0"/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How can we do that? - </a:t>
            </a:r>
            <a:r>
              <a:rPr lang="en-US" altLang="en-US" sz="2000" u="sng" dirty="0"/>
              <a:t>Design</a:t>
            </a:r>
            <a:endParaRPr lang="en-US" altLang="en-US" sz="2000" dirty="0"/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Let us do it! Let us code it!  - </a:t>
            </a:r>
            <a:r>
              <a:rPr lang="en-US" altLang="en-US" sz="2000" u="sng" dirty="0"/>
              <a:t>Implementation</a:t>
            </a:r>
            <a:endParaRPr lang="en-US" altLang="en-US" sz="2000" dirty="0"/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Is this the best way? Any other ways of doing it? What are pros and cons? - </a:t>
            </a:r>
            <a:r>
              <a:rPr lang="en-US" altLang="en-US" sz="2000" u="sng" dirty="0"/>
              <a:t>Runtime Analysis</a:t>
            </a:r>
            <a:endParaRPr lang="en-US" altLang="en-US" sz="2000" dirty="0"/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Is it working as it is supposed to? - </a:t>
            </a:r>
            <a:r>
              <a:rPr lang="en-US" altLang="en-US" sz="2000" u="sng" dirty="0"/>
              <a:t>Testing / Debugging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What do we tell our customers? - </a:t>
            </a:r>
            <a:r>
              <a:rPr lang="en-US" altLang="en-US" sz="2000" u="sng" dirty="0"/>
              <a:t>Documentation</a:t>
            </a:r>
            <a:endParaRPr lang="en-US" altLang="en-US" sz="2000" dirty="0"/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Let us ship/sell it!  - </a:t>
            </a:r>
            <a:r>
              <a:rPr lang="en-US" altLang="en-US" sz="2000" u="sng" dirty="0"/>
              <a:t>Sales</a:t>
            </a:r>
            <a:endParaRPr lang="en-US" altLang="en-US" sz="2000" dirty="0"/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/>
              <a:t>Let us fix bugs, maintain it, improve it!  - </a:t>
            </a:r>
            <a:r>
              <a:rPr lang="en-US" altLang="en-US" sz="2000" u="sng" dirty="0"/>
              <a:t>Service</a:t>
            </a:r>
            <a:endParaRPr lang="en-US" altLang="en-US" sz="2000" dirty="0"/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dirty="0" err="1"/>
              <a:t>Uff</a:t>
            </a:r>
            <a:r>
              <a:rPr lang="en-US" altLang="en-US" sz="2000" dirty="0"/>
              <a:t>..! We are done with that technology. Let us obsolete it and move on to better technology - </a:t>
            </a:r>
            <a:r>
              <a:rPr lang="en-US" altLang="en-US" sz="2000" u="sng" dirty="0"/>
              <a:t>Start again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51A5D-FD2A-459B-B755-7669AD6A68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0D415C-82CA-4E85-9261-0BA5581D8091}" type="slidenum">
              <a:rPr lang="en-GB" altLang="en-US"/>
              <a:pPr/>
              <a:t>5</a:t>
            </a:fld>
            <a:endParaRPr lang="en-GB" altLang="en-US">
              <a:solidFill>
                <a:srgbClr val="FFFFFF"/>
              </a:solidFill>
            </a:endParaRPr>
          </a:p>
        </p:txBody>
      </p:sp>
      <p:sp>
        <p:nvSpPr>
          <p:cNvPr id="190466" name="Rectangle 2">
            <a:extLst>
              <a:ext uri="{FF2B5EF4-FFF2-40B4-BE49-F238E27FC236}">
                <a16:creationId xmlns:a16="http://schemas.microsoft.com/office/drawing/2014/main" id="{16CBC5DF-01C1-4221-A724-5BF656DB9A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5" y="60324"/>
            <a:ext cx="10972800" cy="854076"/>
          </a:xfrm>
        </p:spPr>
        <p:txBody>
          <a:bodyPr/>
          <a:lstStyle/>
          <a:p>
            <a:pPr algn="l"/>
            <a:r>
              <a:rPr lang="en-US" altLang="en-US" b="0" dirty="0"/>
              <a:t>Software Development</a:t>
            </a:r>
            <a:r>
              <a:rPr lang="en-US" altLang="en-US" dirty="0"/>
              <a:t>  - People</a:t>
            </a:r>
          </a:p>
        </p:txBody>
      </p:sp>
      <p:sp>
        <p:nvSpPr>
          <p:cNvPr id="190467" name="Rectangle 3">
            <a:extLst>
              <a:ext uri="{FF2B5EF4-FFF2-40B4-BE49-F238E27FC236}">
                <a16:creationId xmlns:a16="http://schemas.microsoft.com/office/drawing/2014/main" id="{4FFEEFAD-2ECE-4DBA-99FF-5D0442F48D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0" y="1143000"/>
            <a:ext cx="8229600" cy="5410200"/>
          </a:xfrm>
        </p:spPr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en-US" dirty="0"/>
              <a:t>Let us map these steps to the people/teams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Requirements  </a:t>
            </a:r>
            <a:r>
              <a:rPr lang="en-US" altLang="en-US" sz="2000" dirty="0"/>
              <a:t>===&gt;   Marketing Team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Design </a:t>
            </a:r>
            <a:r>
              <a:rPr lang="en-US" altLang="en-US" sz="2000" dirty="0"/>
              <a:t>  ===&gt; Development or Design Team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Implementation  </a:t>
            </a:r>
            <a:r>
              <a:rPr lang="en-US" altLang="en-US" sz="2000" dirty="0"/>
              <a:t>===&gt; Development/Implementation/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en-US" sz="2000" dirty="0"/>
              <a:t>        programming Team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Runtime Analysis </a:t>
            </a:r>
            <a:r>
              <a:rPr lang="en-US" altLang="en-US" sz="2000" dirty="0"/>
              <a:t>===&gt; Development Team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Testing / Debugging </a:t>
            </a:r>
            <a:r>
              <a:rPr lang="en-US" altLang="en-US" sz="2000" dirty="0"/>
              <a:t>===&gt; Quality Assurance Team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Documentation </a:t>
            </a:r>
            <a:r>
              <a:rPr lang="en-US" altLang="en-US" sz="2000" dirty="0"/>
              <a:t>===&gt; Publications Team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Sales </a:t>
            </a:r>
            <a:r>
              <a:rPr lang="en-US" altLang="en-US" sz="2000" dirty="0"/>
              <a:t>===&gt; Sales and Marketing Teams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Service </a:t>
            </a:r>
            <a:r>
              <a:rPr lang="en-US" altLang="en-US" sz="2000" dirty="0"/>
              <a:t>===&gt; Software Support/ Help Desk/ Services</a:t>
            </a:r>
          </a:p>
          <a:p>
            <a:pPr lvl="1">
              <a:spcBef>
                <a:spcPts val="500"/>
              </a:spcBef>
              <a:spcAft>
                <a:spcPts val="500"/>
              </a:spcAft>
            </a:pPr>
            <a:r>
              <a:rPr lang="en-US" altLang="en-US" sz="2000" u="sng" dirty="0"/>
              <a:t>Start again to develop new products  </a:t>
            </a:r>
            <a:r>
              <a:rPr lang="en-US" altLang="en-US" sz="2000" dirty="0"/>
              <a:t>===&gt; </a:t>
            </a:r>
          </a:p>
          <a:p>
            <a:pPr lvl="1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en-US" sz="2000" dirty="0"/>
              <a:t>         Architects, Marketing Teams</a:t>
            </a:r>
          </a:p>
        </p:txBody>
      </p:sp>
      <p:sp>
        <p:nvSpPr>
          <p:cNvPr id="190468" name="Rectangle 4">
            <a:extLst>
              <a:ext uri="{FF2B5EF4-FFF2-40B4-BE49-F238E27FC236}">
                <a16:creationId xmlns:a16="http://schemas.microsoft.com/office/drawing/2014/main" id="{C5B15D36-10ED-46A6-97B1-D6DC8DE13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3600" y="1371600"/>
            <a:ext cx="762000" cy="4953000"/>
          </a:xfrm>
          <a:prstGeom prst="rect">
            <a:avLst/>
          </a:prstGeom>
          <a:solidFill>
            <a:srgbClr val="00FFFF">
              <a:alpha val="50000"/>
            </a:srgbClr>
          </a:solidFill>
          <a:ln w="2857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buFontTx/>
              <a:buNone/>
            </a:pPr>
            <a:r>
              <a:rPr lang="en-US" altLang="en-US" sz="1400" b="1"/>
              <a:t>P</a:t>
            </a:r>
          </a:p>
          <a:p>
            <a:pPr algn="ctr">
              <a:buFontTx/>
              <a:buNone/>
            </a:pPr>
            <a:r>
              <a:rPr lang="en-US" altLang="en-US" sz="1400" b="1"/>
              <a:t>R</a:t>
            </a:r>
          </a:p>
          <a:p>
            <a:pPr algn="ctr">
              <a:buFontTx/>
              <a:buNone/>
            </a:pPr>
            <a:r>
              <a:rPr lang="en-US" altLang="en-US" sz="1400" b="1"/>
              <a:t>O</a:t>
            </a:r>
          </a:p>
          <a:p>
            <a:pPr algn="ctr">
              <a:buFontTx/>
              <a:buNone/>
            </a:pPr>
            <a:r>
              <a:rPr lang="en-US" altLang="en-US" sz="1400" b="1"/>
              <a:t>J</a:t>
            </a:r>
          </a:p>
          <a:p>
            <a:pPr algn="ctr">
              <a:buFontTx/>
              <a:buNone/>
            </a:pPr>
            <a:r>
              <a:rPr lang="en-US" altLang="en-US" sz="1400" b="1"/>
              <a:t>E</a:t>
            </a:r>
          </a:p>
          <a:p>
            <a:pPr algn="ctr">
              <a:buFontTx/>
              <a:buNone/>
            </a:pPr>
            <a:r>
              <a:rPr lang="en-US" altLang="en-US" sz="1400" b="1"/>
              <a:t>C</a:t>
            </a:r>
          </a:p>
          <a:p>
            <a:pPr algn="ctr">
              <a:buFontTx/>
              <a:buNone/>
            </a:pPr>
            <a:r>
              <a:rPr lang="en-US" altLang="en-US" sz="1400" b="1"/>
              <a:t>T</a:t>
            </a:r>
          </a:p>
          <a:p>
            <a:pPr algn="ctr">
              <a:buFontTx/>
              <a:buNone/>
            </a:pPr>
            <a:endParaRPr lang="en-US" altLang="en-US" sz="1400" b="1"/>
          </a:p>
          <a:p>
            <a:pPr algn="ctr">
              <a:buFontTx/>
              <a:buNone/>
            </a:pPr>
            <a:r>
              <a:rPr lang="en-US" altLang="en-US" sz="1400" b="1"/>
              <a:t>M</a:t>
            </a:r>
          </a:p>
          <a:p>
            <a:pPr algn="ctr">
              <a:buFontTx/>
              <a:buNone/>
            </a:pPr>
            <a:r>
              <a:rPr lang="en-US" altLang="en-US" sz="1400" b="1"/>
              <a:t>A</a:t>
            </a:r>
          </a:p>
          <a:p>
            <a:pPr algn="ctr">
              <a:buFontTx/>
              <a:buNone/>
            </a:pPr>
            <a:r>
              <a:rPr lang="en-US" altLang="en-US" sz="1400" b="1"/>
              <a:t>N</a:t>
            </a:r>
          </a:p>
          <a:p>
            <a:pPr algn="ctr">
              <a:buFontTx/>
              <a:buNone/>
            </a:pPr>
            <a:r>
              <a:rPr lang="en-US" altLang="en-US" sz="1400" b="1"/>
              <a:t>A</a:t>
            </a:r>
          </a:p>
          <a:p>
            <a:pPr algn="ctr">
              <a:buFontTx/>
              <a:buNone/>
            </a:pPr>
            <a:r>
              <a:rPr lang="en-US" altLang="en-US" sz="1400" b="1"/>
              <a:t>G</a:t>
            </a:r>
          </a:p>
          <a:p>
            <a:pPr algn="ctr">
              <a:buFontTx/>
              <a:buNone/>
            </a:pPr>
            <a:r>
              <a:rPr lang="en-US" altLang="en-US" sz="1400" b="1"/>
              <a:t>E</a:t>
            </a:r>
          </a:p>
          <a:p>
            <a:pPr algn="ctr">
              <a:buFontTx/>
              <a:buNone/>
            </a:pPr>
            <a:r>
              <a:rPr lang="en-US" altLang="en-US" sz="1400" b="1"/>
              <a:t>R</a:t>
            </a:r>
          </a:p>
          <a:p>
            <a:pPr algn="ctr">
              <a:buFontTx/>
              <a:buNone/>
            </a:pPr>
            <a:r>
              <a:rPr lang="en-US" altLang="en-US" sz="1400" b="1"/>
              <a:t>S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1DD415B-8EE0-43D9-98A0-D106AB874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401DB9-9407-421F-B5DD-F2EF2AEEADD7}" type="slidenum">
              <a:rPr lang="en-GB" altLang="en-US"/>
              <a:pPr/>
              <a:t>6</a:t>
            </a:fld>
            <a:endParaRPr lang="en-GB" altLang="en-US">
              <a:solidFill>
                <a:srgbClr val="FFFFFF"/>
              </a:solidFill>
            </a:endParaRPr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1E375964-38A9-4C0E-8EE8-1CEE1B90F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74154"/>
            <a:ext cx="10972800" cy="805990"/>
          </a:xfrm>
        </p:spPr>
        <p:txBody>
          <a:bodyPr/>
          <a:lstStyle/>
          <a:p>
            <a:pPr algn="l"/>
            <a:r>
              <a:rPr lang="en-US" altLang="en-US" dirty="0"/>
              <a:t>Software Development  - Documents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D1F4C2E8-7B29-419A-8EEC-365E5201D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Each of the above steps map to one or other specification.</a:t>
            </a:r>
          </a:p>
          <a:p>
            <a:r>
              <a:rPr lang="en-US" altLang="en-US" dirty="0"/>
              <a:t>These documents serve as a contract between the teams involved in the software development.</a:t>
            </a:r>
          </a:p>
          <a:p>
            <a:r>
              <a:rPr lang="en-US" altLang="en-US" dirty="0"/>
              <a:t>Some examples of such documents are</a:t>
            </a:r>
            <a:endParaRPr lang="en-US" altLang="en-US" sz="3300" b="1" dirty="0">
              <a:latin typeface="Times New Roman" panose="02020603050405020304" pitchFamily="18" charset="0"/>
            </a:endParaRPr>
          </a:p>
          <a:p>
            <a:pPr lvl="1"/>
            <a:r>
              <a:rPr lang="en-US" altLang="en-US" sz="2000" dirty="0"/>
              <a:t>Marketing Requirements Document (MRD)</a:t>
            </a:r>
          </a:p>
          <a:p>
            <a:pPr lvl="1"/>
            <a:r>
              <a:rPr lang="en-US" altLang="en-US" sz="2000" dirty="0"/>
              <a:t>Software Requirements Specification (SRS)</a:t>
            </a:r>
          </a:p>
          <a:p>
            <a:pPr lvl="1"/>
            <a:r>
              <a:rPr lang="en-US" altLang="en-US" sz="2000" dirty="0"/>
              <a:t>Software Design Document (SDD)</a:t>
            </a:r>
          </a:p>
          <a:p>
            <a:pPr lvl="1"/>
            <a:r>
              <a:rPr lang="en-US" altLang="en-US" sz="2000" dirty="0"/>
              <a:t>Test Design Specification (TDS)</a:t>
            </a:r>
          </a:p>
          <a:p>
            <a:pPr lvl="1"/>
            <a:r>
              <a:rPr lang="en-US" altLang="en-US" sz="2000" dirty="0"/>
              <a:t>User Guide/Maintenance/Migration/Upgrade Specifications</a:t>
            </a:r>
          </a:p>
          <a:p>
            <a:r>
              <a:rPr lang="en-US" altLang="en-US" sz="2400" dirty="0"/>
              <a:t>Different companies will have different names for these docs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1DD415B-8EE0-43D9-98A0-D106AB8748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401DB9-9407-421F-B5DD-F2EF2AEEADD7}" type="slidenum">
              <a:rPr lang="en-GB" altLang="en-US"/>
              <a:pPr/>
              <a:t>7</a:t>
            </a:fld>
            <a:endParaRPr lang="en-GB" altLang="en-US">
              <a:solidFill>
                <a:srgbClr val="FFFFFF"/>
              </a:solidFill>
            </a:endParaRPr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1E375964-38A9-4C0E-8EE8-1CEE1B90F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37785"/>
            <a:ext cx="10972800" cy="545494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Strengths and Limitations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D1F4C2E8-7B29-419A-8EEC-365E5201DA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081727"/>
            <a:ext cx="10972800" cy="45259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en-US" dirty="0"/>
              <a:t>Strengths:</a:t>
            </a:r>
          </a:p>
          <a:p>
            <a:r>
              <a:rPr lang="en-US" altLang="en-US" dirty="0"/>
              <a:t>Waterfall relies on teams following a sequence of steps.</a:t>
            </a:r>
          </a:p>
          <a:p>
            <a:r>
              <a:rPr lang="en-US" altLang="en-US" dirty="0"/>
              <a:t>They never move forward until the previous steps are completed.</a:t>
            </a:r>
          </a:p>
          <a:p>
            <a:r>
              <a:rPr lang="en-US" altLang="en-US" dirty="0"/>
              <a:t>This is well suited to smaller projects that are shorter in duration.</a:t>
            </a:r>
          </a:p>
          <a:p>
            <a:r>
              <a:rPr lang="en-US" altLang="en-US" dirty="0"/>
              <a:t>If the requirements are fixed, and well documents, waterfall model is suitable.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Limitations:</a:t>
            </a:r>
          </a:p>
          <a:p>
            <a:r>
              <a:rPr lang="en-US" altLang="en-US" dirty="0"/>
              <a:t>However, for complex and longer projects, waterfall falls short in assuring the predictability.</a:t>
            </a:r>
          </a:p>
          <a:p>
            <a:r>
              <a:rPr lang="en-US" altLang="en-US" dirty="0"/>
              <a:t>If the project is delayed or cut-short, the customer may be getting a bunch of documents but no code.</a:t>
            </a:r>
          </a:p>
          <a:p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49065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" y="1274"/>
            <a:ext cx="8971175" cy="761460"/>
          </a:xfrm>
        </p:spPr>
        <p:txBody>
          <a:bodyPr>
            <a:normAutofit fontScale="90000"/>
          </a:bodyPr>
          <a:lstStyle/>
          <a:p>
            <a:pPr algn="l"/>
            <a:r>
              <a:rPr lang="en-US" sz="4800" dirty="0">
                <a:solidFill>
                  <a:srgbClr val="04B452"/>
                </a:solidFill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6358183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79FABF-C2A1-4746-91E5-0B41DC3C41A3}"/>
              </a:ext>
            </a:extLst>
          </p:cNvPr>
          <p:cNvSpPr txBox="1"/>
          <p:nvPr/>
        </p:nvSpPr>
        <p:spPr>
          <a:xfrm>
            <a:off x="116786" y="1038357"/>
            <a:ext cx="106075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2"/>
              </a:rPr>
              <a:t>https://www.lucidchart.com/blog/pros-and-cons-of-waterfall-methodology</a:t>
            </a:r>
            <a:endParaRPr lang="en-US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  <a:hlinkClick r:id="rId3"/>
              </a:rPr>
              <a:t>https://en.wikipedia.org/wiki/Waterfall_model</a:t>
            </a:r>
            <a:r>
              <a:rPr lang="en-US" sz="2400" dirty="0">
                <a:solidFill>
                  <a:srgbClr val="202122"/>
                </a:solidFill>
                <a:latin typeface="Arial" panose="020B0604020202020204" pitchFamily="34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04A7F7-8A47-4C82-A3CC-4C3D4310CE96}"/>
              </a:ext>
            </a:extLst>
          </p:cNvPr>
          <p:cNvSpPr txBox="1"/>
          <p:nvPr/>
        </p:nvSpPr>
        <p:spPr>
          <a:xfrm>
            <a:off x="1133891" y="5225809"/>
            <a:ext cx="106075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20212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452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  <a:ln/>
        </p:spPr>
        <p:txBody>
          <a:bodyPr/>
          <a:lstStyle/>
          <a:p>
            <a:pPr marL="190500" lvl="1" indent="-188913">
              <a:buNone/>
            </a:pPr>
            <a:endParaRPr lang="en-US" dirty="0"/>
          </a:p>
        </p:txBody>
      </p:sp>
      <p:pic>
        <p:nvPicPr>
          <p:cNvPr id="4" name="Picture 2" descr="C:\Program Files\Microsoft Resource DVD Artwork\DVD_ART\Artwork_Imagery\Shapes and Graphics\MSN Illustration Icon\MSN icon help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48100" y="1524001"/>
            <a:ext cx="4495800" cy="4263703"/>
          </a:xfrm>
          <a:prstGeom prst="rect">
            <a:avLst/>
          </a:prstGeom>
          <a:noFill/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040698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567</Words>
  <Application>Microsoft Office PowerPoint</Application>
  <PresentationFormat>Widescreen</PresentationFormat>
  <Paragraphs>95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Comic Sans MS</vt:lpstr>
      <vt:lpstr>Siemens Sans</vt:lpstr>
      <vt:lpstr>Tahoma</vt:lpstr>
      <vt:lpstr>Times New Roman</vt:lpstr>
      <vt:lpstr>Office Theme</vt:lpstr>
      <vt:lpstr>PowerPoint Presentation</vt:lpstr>
      <vt:lpstr>PowerPoint Presentation</vt:lpstr>
      <vt:lpstr>Software Development  Life Cycle</vt:lpstr>
      <vt:lpstr>Software Development  Life Cycle</vt:lpstr>
      <vt:lpstr>Software Development  - People</vt:lpstr>
      <vt:lpstr>Software Development  - Documents</vt:lpstr>
      <vt:lpstr>Strengths and Limitations</vt:lpstr>
      <vt:lpstr>References</vt:lpstr>
      <vt:lpstr>Q&amp;A</vt:lpstr>
    </vt:vector>
  </TitlesOfParts>
  <Company>Fabric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Andrew Harwood</dc:creator>
  <cp:keywords>C_Unrestricted</cp:keywords>
  <cp:lastModifiedBy>Jasthi, Jasthi (DI SW LCS DEVOPS)</cp:lastModifiedBy>
  <cp:revision>49</cp:revision>
  <dcterms:created xsi:type="dcterms:W3CDTF">2014-09-03T22:10:43Z</dcterms:created>
  <dcterms:modified xsi:type="dcterms:W3CDTF">2023-05-15T22:21:26Z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ument Confidentiality">
    <vt:lpwstr>Unrestricted</vt:lpwstr>
  </property>
  <property fmtid="{D5CDD505-2E9C-101B-9397-08002B2CF9AE}" pid="3" name="sodocoClasLang">
    <vt:lpwstr>Unrestricted</vt:lpwstr>
  </property>
  <property fmtid="{D5CDD505-2E9C-101B-9397-08002B2CF9AE}" pid="4" name="sodocoClasLangId">
    <vt:i4>0</vt:i4>
  </property>
  <property fmtid="{D5CDD505-2E9C-101B-9397-08002B2CF9AE}" pid="5" name="sodocoClasId">
    <vt:i4>0</vt:i4>
  </property>
  <property fmtid="{D5CDD505-2E9C-101B-9397-08002B2CF9AE}" pid="6" name="MSIP_Label_6f75f480-7803-4ee9-bb54-84d0635fdbe7_Enabled">
    <vt:lpwstr>true</vt:lpwstr>
  </property>
  <property fmtid="{D5CDD505-2E9C-101B-9397-08002B2CF9AE}" pid="7" name="MSIP_Label_6f75f480-7803-4ee9-bb54-84d0635fdbe7_SetDate">
    <vt:lpwstr>2023-05-15T22:19:50Z</vt:lpwstr>
  </property>
  <property fmtid="{D5CDD505-2E9C-101B-9397-08002B2CF9AE}" pid="8" name="MSIP_Label_6f75f480-7803-4ee9-bb54-84d0635fdbe7_Method">
    <vt:lpwstr>Privileged</vt:lpwstr>
  </property>
  <property fmtid="{D5CDD505-2E9C-101B-9397-08002B2CF9AE}" pid="9" name="MSIP_Label_6f75f480-7803-4ee9-bb54-84d0635fdbe7_Name">
    <vt:lpwstr>unrestricted</vt:lpwstr>
  </property>
  <property fmtid="{D5CDD505-2E9C-101B-9397-08002B2CF9AE}" pid="10" name="MSIP_Label_6f75f480-7803-4ee9-bb54-84d0635fdbe7_SiteId">
    <vt:lpwstr>38ae3bcd-9579-4fd4-adda-b42e1495d55a</vt:lpwstr>
  </property>
  <property fmtid="{D5CDD505-2E9C-101B-9397-08002B2CF9AE}" pid="11" name="MSIP_Label_6f75f480-7803-4ee9-bb54-84d0635fdbe7_ActionId">
    <vt:lpwstr>20f10352-ce62-46e1-b910-2f6fa2674fe0</vt:lpwstr>
  </property>
  <property fmtid="{D5CDD505-2E9C-101B-9397-08002B2CF9AE}" pid="12" name="MSIP_Label_6f75f480-7803-4ee9-bb54-84d0635fdbe7_ContentBits">
    <vt:lpwstr>0</vt:lpwstr>
  </property>
</Properties>
</file>