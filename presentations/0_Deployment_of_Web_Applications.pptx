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1"/>
  </p:sldMasterIdLst>
  <p:notesMasterIdLst>
    <p:notesMasterId r:id="rId26"/>
  </p:notesMasterIdLst>
  <p:handoutMasterIdLst>
    <p:handoutMasterId r:id="rId27"/>
  </p:handoutMasterIdLst>
  <p:sldIdLst>
    <p:sldId id="420" r:id="rId2"/>
    <p:sldId id="421" r:id="rId3"/>
    <p:sldId id="454" r:id="rId4"/>
    <p:sldId id="455" r:id="rId5"/>
    <p:sldId id="456" r:id="rId6"/>
    <p:sldId id="457" r:id="rId7"/>
    <p:sldId id="458" r:id="rId8"/>
    <p:sldId id="459" r:id="rId9"/>
    <p:sldId id="460" r:id="rId10"/>
    <p:sldId id="461" r:id="rId11"/>
    <p:sldId id="462" r:id="rId12"/>
    <p:sldId id="463" r:id="rId13"/>
    <p:sldId id="464" r:id="rId14"/>
    <p:sldId id="465" r:id="rId15"/>
    <p:sldId id="472" r:id="rId16"/>
    <p:sldId id="466" r:id="rId17"/>
    <p:sldId id="473" r:id="rId18"/>
    <p:sldId id="468" r:id="rId19"/>
    <p:sldId id="467" r:id="rId20"/>
    <p:sldId id="471" r:id="rId21"/>
    <p:sldId id="470" r:id="rId22"/>
    <p:sldId id="474" r:id="rId23"/>
    <p:sldId id="469" r:id="rId24"/>
    <p:sldId id="453" r:id="rId25"/>
  </p:sldIdLst>
  <p:sldSz cx="12192000" cy="6858000"/>
  <p:notesSz cx="6991350" cy="9282113"/>
  <p:custDataLst>
    <p:tags r:id="rId28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2">
          <p15:clr>
            <a:srgbClr val="A4A3A4"/>
          </p15:clr>
        </p15:guide>
        <p15:guide id="2" pos="220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9191"/>
    <a:srgbClr val="FF3300"/>
    <a:srgbClr val="868686"/>
    <a:srgbClr val="777777"/>
    <a:srgbClr val="DDDDDD"/>
    <a:srgbClr val="CBCBCB"/>
    <a:srgbClr val="001454"/>
    <a:srgbClr val="00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661" autoAdjust="0"/>
  </p:normalViewPr>
  <p:slideViewPr>
    <p:cSldViewPr>
      <p:cViewPr varScale="1">
        <p:scale>
          <a:sx n="71" d="100"/>
          <a:sy n="71" d="100"/>
        </p:scale>
        <p:origin x="398" y="19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-1932" y="-84"/>
      </p:cViewPr>
      <p:guideLst>
        <p:guide orient="horz" pos="2922"/>
        <p:guide pos="220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466725" y="8466138"/>
            <a:ext cx="6135688" cy="26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4653" tIns="47327" rIns="94653" bIns="47327">
            <a:spAutoFit/>
          </a:bodyPr>
          <a:lstStyle/>
          <a:p>
            <a:pPr algn="ctr" defTabSz="939800" eaLnBrk="0" hangingPunct="0">
              <a:defRPr/>
            </a:pPr>
            <a:endParaRPr lang="en-US" sz="110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6234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588"/>
            <a:ext cx="302895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15" tIns="0" rIns="19315" bIns="0" numCol="1" anchor="t" anchorCtr="0" compatLnSpc="1">
            <a:prstTxWarp prst="textNoShape">
              <a:avLst/>
            </a:prstTxWarp>
          </a:bodyPr>
          <a:lstStyle>
            <a:lvl1pPr defTabSz="9271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-1588"/>
            <a:ext cx="302895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15" tIns="0" rIns="19315" bIns="0" numCol="1" anchor="t" anchorCtr="0" compatLnSpc="1">
            <a:prstTxWarp prst="textNoShape">
              <a:avLst/>
            </a:prstTxWarp>
          </a:bodyPr>
          <a:lstStyle>
            <a:lvl1pPr algn="r" defTabSz="9271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6975"/>
            <a:ext cx="302895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15" tIns="0" rIns="19315" bIns="0" numCol="1" anchor="b" anchorCtr="0" compatLnSpc="1">
            <a:prstTxWarp prst="textNoShape">
              <a:avLst/>
            </a:prstTxWarp>
          </a:bodyPr>
          <a:lstStyle>
            <a:lvl1pPr defTabSz="9271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816975"/>
            <a:ext cx="302895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315" tIns="0" rIns="19315" bIns="0" numCol="1" anchor="b" anchorCtr="0" compatLnSpc="1">
            <a:prstTxWarp prst="textNoShape">
              <a:avLst/>
            </a:prstTxWarp>
          </a:bodyPr>
          <a:lstStyle>
            <a:lvl1pPr algn="r" defTabSz="9271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fld id="{A18B7429-D64D-41C4-B7DA-5B48ACDF22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06900"/>
            <a:ext cx="5127625" cy="417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7259" tIns="38630" rIns="77259" bIns="3863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6871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3225" y="698500"/>
            <a:ext cx="6183313" cy="3479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6556375" y="8904288"/>
            <a:ext cx="349250" cy="25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77259" tIns="38630" rIns="77259" bIns="38630" anchor="ctr">
            <a:spAutoFit/>
          </a:bodyPr>
          <a:lstStyle/>
          <a:p>
            <a:pPr algn="r" defTabSz="765175" eaLnBrk="0" hangingPunct="0">
              <a:defRPr/>
            </a:pPr>
            <a:fld id="{CFED52EF-2E55-489E-AD91-0A5225B2D725}" type="slidenum">
              <a:rPr lang="en-US" sz="1200">
                <a:latin typeface="Book Antiqua" pitchFamily="18" charset="0"/>
              </a:rPr>
              <a:pPr algn="r" defTabSz="765175" eaLnBrk="0" hangingPunct="0">
                <a:defRPr/>
              </a:pPr>
              <a:t>‹#›</a:t>
            </a:fld>
            <a:endParaRPr lang="en-US" sz="120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59254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754063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1pPr>
    <a:lvl2pPr marL="376238" algn="l" defTabSz="754063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2pPr>
    <a:lvl3pPr marL="754063" algn="l" defTabSz="754063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3pPr>
    <a:lvl4pPr marL="1130300" algn="l" defTabSz="754063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4pPr>
    <a:lvl5pPr marL="1508125" algn="l" defTabSz="754063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D9016E-14DF-4FDF-A7E3-F5030B969C49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0050" y="698500"/>
            <a:ext cx="6188075" cy="3481388"/>
          </a:xfrm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8488"/>
            <a:ext cx="5126037" cy="4179887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667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03225" y="698500"/>
            <a:ext cx="6183313" cy="3479800"/>
          </a:xfrm>
          <a:ln/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15364" name="Slide Number Placeholder 3"/>
          <p:cNvSpPr txBox="1">
            <a:spLocks noGrp="1"/>
          </p:cNvSpPr>
          <p:nvPr/>
        </p:nvSpPr>
        <p:spPr bwMode="auto">
          <a:xfrm>
            <a:off x="3960148" y="8816398"/>
            <a:ext cx="3029585" cy="464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965" tIns="46482" rIns="92965" bIns="46482" anchor="b"/>
          <a:lstStyle/>
          <a:p>
            <a:pPr algn="r"/>
            <a:fld id="{79F94C6D-20E5-4981-88CB-2462DB3C4181}" type="slidenum">
              <a:rPr lang="de-DE">
                <a:latin typeface="Siemens Sans" pitchFamily="2" charset="0"/>
              </a:rPr>
              <a:pPr algn="r"/>
              <a:t>24</a:t>
            </a:fld>
            <a:endParaRPr lang="de-DE" dirty="0">
              <a:latin typeface="Siemens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1601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1066800"/>
          </a:xfrm>
          <a:prstGeom prst="rect">
            <a:avLst/>
          </a:prstGeom>
          <a:solidFill>
            <a:srgbClr val="89A5C7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pic>
        <p:nvPicPr>
          <p:cNvPr id="5" name="Picture 7" descr="jasthi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3200" y="152400"/>
            <a:ext cx="914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8101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88102" name="Rectangle 6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0"/>
          </p:nvPr>
        </p:nvSpPr>
        <p:spPr>
          <a:xfrm>
            <a:off x="304800" y="6477000"/>
            <a:ext cx="10261600" cy="228600"/>
          </a:xfrm>
        </p:spPr>
        <p:txBody>
          <a:bodyPr/>
          <a:lstStyle>
            <a:lvl1pPr>
              <a:defRPr sz="1400" b="0"/>
            </a:lvl1pPr>
          </a:lstStyle>
          <a:p>
            <a:pPr>
              <a:defRPr/>
            </a:pPr>
            <a:r>
              <a:rPr lang="en-GB" dirty="0"/>
              <a:t>Siva R Jasthi                                                                          </a:t>
            </a:r>
            <a:r>
              <a:rPr lang="en-US" dirty="0"/>
              <a:t>Software Engineering and Capstone Project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0769600" y="6477000"/>
            <a:ext cx="508000" cy="2286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4FD71C3B-D472-47AC-ACDE-B7CC2C8273B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Siva R Jasthi                                                                          </a:t>
            </a:r>
            <a:r>
              <a:rPr lang="en-US" dirty="0"/>
              <a:t>Software Engineering and Capstone Project</a:t>
            </a:r>
            <a:endParaRPr lang="en-GB" sz="1400" b="0" dirty="0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D5C774-81C5-4559-9640-0BB54B0EC9E7}" type="slidenum">
              <a:rPr lang="en-GB"/>
              <a:pPr>
                <a:defRPr/>
              </a:pPr>
              <a:t>‹#›</a:t>
            </a:fld>
            <a:endParaRPr lang="en-GB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Siva R Jasthi                                                                          </a:t>
            </a:r>
            <a:r>
              <a:rPr lang="en-US" dirty="0"/>
              <a:t>Software Engineering and Capstone Project</a:t>
            </a:r>
            <a:endParaRPr lang="en-GB" sz="1400" b="0" dirty="0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BAD785-1B6C-47D5-91F3-C3BBF8C87BB5}" type="slidenum">
              <a:rPr lang="en-GB"/>
              <a:pPr>
                <a:defRPr/>
              </a:pPr>
              <a:t>‹#›</a:t>
            </a:fld>
            <a:endParaRPr lang="en-GB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3200" y="1143000"/>
            <a:ext cx="58928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9200" y="1143000"/>
            <a:ext cx="58928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Siva R Jasthi                                                                          </a:t>
            </a:r>
            <a:r>
              <a:rPr lang="en-US" dirty="0"/>
              <a:t>Software Engineering and Capstone Project</a:t>
            </a:r>
            <a:endParaRPr lang="en-GB" sz="1400" b="0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538A96-B289-4D41-A525-D12A1FBC58BA}" type="slidenum">
              <a:rPr lang="en-GB"/>
              <a:pPr>
                <a:defRPr/>
              </a:pPr>
              <a:t>‹#›</a:t>
            </a:fld>
            <a:endParaRPr lang="en-GB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Siva R Jasthi                                                                          </a:t>
            </a:r>
            <a:r>
              <a:rPr lang="en-US" dirty="0"/>
              <a:t>Software Engineering and Capstone Project</a:t>
            </a:r>
            <a:endParaRPr lang="en-GB" sz="1400" b="0" dirty="0">
              <a:solidFill>
                <a:srgbClr val="FFFFFF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34EB3B-C571-408E-B0CF-8A7576D2E8A8}" type="slidenum">
              <a:rPr lang="en-GB"/>
              <a:pPr>
                <a:defRPr/>
              </a:pPr>
              <a:t>‹#›</a:t>
            </a:fld>
            <a:endParaRPr lang="en-GB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Siva R Jasthi                                                                          </a:t>
            </a:r>
            <a:r>
              <a:rPr lang="en-US" dirty="0"/>
              <a:t>Software Engineering and Capstone Project</a:t>
            </a:r>
            <a:endParaRPr lang="en-GB" sz="1400" b="0" dirty="0">
              <a:solidFill>
                <a:srgbClr val="FFFF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24BBF3-803D-4D85-95F6-7DCF8A167AED}" type="slidenum">
              <a:rPr lang="en-GB"/>
              <a:pPr>
                <a:defRPr/>
              </a:pPr>
              <a:t>‹#›</a:t>
            </a:fld>
            <a:endParaRPr lang="en-GB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Siva R Jasthi                                                                          </a:t>
            </a:r>
            <a:r>
              <a:rPr lang="en-US" dirty="0"/>
              <a:t>Software Engineering and Capstone Project</a:t>
            </a:r>
            <a:endParaRPr lang="en-GB" sz="1400" b="0" dirty="0">
              <a:solidFill>
                <a:srgbClr val="FFFFFF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707887-EE06-4E3F-9515-1ED64E674293}" type="slidenum">
              <a:rPr lang="en-GB"/>
              <a:pPr>
                <a:defRPr/>
              </a:pPr>
              <a:t>‹#›</a:t>
            </a:fld>
            <a:endParaRPr lang="en-GB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Siva R Jasthi                                                                          </a:t>
            </a:r>
            <a:r>
              <a:rPr lang="en-US" dirty="0"/>
              <a:t>Software Engineering and Capstone Project</a:t>
            </a:r>
            <a:endParaRPr lang="en-GB" sz="1400" b="0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AC25A7-B2CE-4334-924B-767F55F3AAD2}" type="slidenum">
              <a:rPr lang="en-GB"/>
              <a:pPr>
                <a:defRPr/>
              </a:pPr>
              <a:t>‹#›</a:t>
            </a:fld>
            <a:endParaRPr lang="en-GB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Siva R Jasthi                                                                          </a:t>
            </a:r>
            <a:r>
              <a:rPr lang="en-US" dirty="0"/>
              <a:t>Software Engineering and Capstone Project</a:t>
            </a:r>
            <a:endParaRPr lang="en-GB" sz="1400" b="0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1B8635-E0E5-41B0-B504-F63A195864E5}" type="slidenum">
              <a:rPr lang="en-GB"/>
              <a:pPr>
                <a:defRPr/>
              </a:pPr>
              <a:t>‹#›</a:t>
            </a:fld>
            <a:endParaRPr lang="en-GB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Siva R Jasthi                                                                          </a:t>
            </a:r>
            <a:r>
              <a:rPr lang="en-US" dirty="0"/>
              <a:t>Software Engineering and Capstone Project</a:t>
            </a:r>
            <a:endParaRPr lang="en-GB" sz="1400" b="0" dirty="0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831A17-AB7C-44DA-80F6-B56DC5D60738}" type="slidenum">
              <a:rPr lang="en-GB"/>
              <a:pPr>
                <a:defRPr/>
              </a:pPr>
              <a:t>‹#›</a:t>
            </a:fld>
            <a:endParaRPr lang="en-GB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94800" y="0"/>
            <a:ext cx="2997200" cy="6553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3200" y="0"/>
            <a:ext cx="8788400" cy="6553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Siva R Jasthi                                                                          </a:t>
            </a:r>
            <a:r>
              <a:rPr lang="en-US" dirty="0"/>
              <a:t>Software Engineering and Capstone Project</a:t>
            </a:r>
            <a:endParaRPr lang="en-GB" sz="1400" b="0" dirty="0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8A6054-A37A-46EF-A05D-8107355DC2D6}" type="slidenum">
              <a:rPr lang="en-GB"/>
              <a:pPr>
                <a:defRPr/>
              </a:pPr>
              <a:t>‹#›</a:t>
            </a:fld>
            <a:endParaRPr lang="en-GB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0"/>
            <a:ext cx="10972800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203200" y="1143000"/>
            <a:ext cx="11988800" cy="54102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Siva R Jasthi                                                                          </a:t>
            </a:r>
            <a:r>
              <a:rPr lang="en-US" dirty="0"/>
              <a:t>Software Engineering and Capstone Project</a:t>
            </a:r>
            <a:endParaRPr lang="en-GB" sz="1400" b="0" dirty="0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4BACD8-1419-492C-900E-F521C7DF71B9}" type="slidenum">
              <a:rPr lang="en-GB"/>
              <a:pPr>
                <a:defRPr/>
              </a:pPr>
              <a:t>‹#›</a:t>
            </a:fld>
            <a:endParaRPr lang="en-GB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2"/>
          <p:cNvSpPr>
            <a:spLocks noChangeArrowheads="1"/>
          </p:cNvSpPr>
          <p:nvPr/>
        </p:nvSpPr>
        <p:spPr bwMode="auto">
          <a:xfrm>
            <a:off x="0" y="0"/>
            <a:ext cx="12192000" cy="1066800"/>
          </a:xfrm>
          <a:prstGeom prst="rect">
            <a:avLst/>
          </a:prstGeom>
          <a:solidFill>
            <a:srgbClr val="89A5C7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387075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03200" y="6629400"/>
            <a:ext cx="10972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spcBef>
                <a:spcPct val="50000"/>
              </a:spcBef>
              <a:defRPr sz="1200" b="1"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r>
              <a:rPr lang="en-GB" dirty="0"/>
              <a:t>Siva R Jasthi                                                                          </a:t>
            </a:r>
            <a:r>
              <a:rPr lang="en-US" dirty="0"/>
              <a:t>Software Engineering and Capstone Project</a:t>
            </a:r>
            <a:endParaRPr lang="en-GB" sz="1400" dirty="0">
              <a:solidFill>
                <a:srgbClr val="FFFFFF"/>
              </a:solidFill>
            </a:endParaRPr>
          </a:p>
        </p:txBody>
      </p:sp>
      <p:sp>
        <p:nvSpPr>
          <p:cNvPr id="38707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277600" y="6629400"/>
            <a:ext cx="7112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50000"/>
              </a:spcBef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9AEF9650-5F08-4653-AB6F-BF812F309B77}" type="slidenum">
              <a:rPr lang="en-GB"/>
              <a:pPr>
                <a:defRPr/>
              </a:pPr>
              <a:t>‹#›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203200" y="1143000"/>
            <a:ext cx="119888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		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8707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0"/>
            <a:ext cx="109728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bg2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pic>
        <p:nvPicPr>
          <p:cNvPr id="8199" name="Picture 7" descr="jasthi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203200" y="152400"/>
            <a:ext cx="914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</p:sldLayoutIdLst>
  <p:transition>
    <p:wipe dir="r"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45000"/>
        </a:spcBef>
        <a:spcAft>
          <a:spcPct val="0"/>
        </a:spcAft>
        <a:buClr>
          <a:srgbClr val="B00000"/>
        </a:buClr>
        <a:buSzPct val="200000"/>
        <a:buChar char="•"/>
        <a:defRPr kumimoji="1" sz="28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45000"/>
        </a:spcBef>
        <a:spcAft>
          <a:spcPct val="0"/>
        </a:spcAft>
        <a:buClr>
          <a:srgbClr val="B00000"/>
        </a:buClr>
        <a:buChar char="•"/>
        <a:defRPr kumimoji="1" sz="2400">
          <a:solidFill>
            <a:schemeClr val="bg2"/>
          </a:solidFill>
          <a:latin typeface="+mn-lt"/>
        </a:defRPr>
      </a:lvl2pPr>
      <a:lvl3pPr marL="1143000" indent="-228600" algn="l" rtl="0" eaLnBrk="0" fontAlgn="base" hangingPunct="0">
        <a:spcBef>
          <a:spcPct val="45000"/>
        </a:spcBef>
        <a:spcAft>
          <a:spcPct val="0"/>
        </a:spcAft>
        <a:buClr>
          <a:srgbClr val="B00000"/>
        </a:buClr>
        <a:buChar char="–"/>
        <a:defRPr kumimoji="1" sz="2000">
          <a:solidFill>
            <a:schemeClr val="bg2"/>
          </a:solidFill>
          <a:latin typeface="+mn-lt"/>
        </a:defRPr>
      </a:lvl3pPr>
      <a:lvl4pPr marL="1600200" indent="-228600" algn="l" rtl="0" eaLnBrk="0" fontAlgn="base" hangingPunct="0">
        <a:spcBef>
          <a:spcPct val="45000"/>
        </a:spcBef>
        <a:spcAft>
          <a:spcPct val="0"/>
        </a:spcAft>
        <a:buClr>
          <a:srgbClr val="99CCCC"/>
        </a:buClr>
        <a:buChar char="–"/>
        <a:defRPr kumimoji="1">
          <a:solidFill>
            <a:schemeClr val="bg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2B515"/>
        </a:buClr>
        <a:buChar char="»"/>
        <a:defRPr kumimoji="1" sz="2000">
          <a:solidFill>
            <a:srgbClr val="FFFFFF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C2B515"/>
        </a:buClr>
        <a:buChar char="»"/>
        <a:defRPr kumimoji="1" sz="2000">
          <a:solidFill>
            <a:srgbClr val="FFFFFF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C2B515"/>
        </a:buClr>
        <a:buChar char="»"/>
        <a:defRPr kumimoji="1" sz="2000">
          <a:solidFill>
            <a:srgbClr val="FFFFFF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C2B515"/>
        </a:buClr>
        <a:buChar char="»"/>
        <a:defRPr kumimoji="1" sz="2000">
          <a:solidFill>
            <a:srgbClr val="FFFFFF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C2B515"/>
        </a:buClr>
        <a:buChar char="»"/>
        <a:defRPr kumimoji="1" sz="2000">
          <a:solidFill>
            <a:srgbClr val="FFFFFF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hyperlink" Target="https://www.top10.com/hosting/comparison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1524000" y="1828800"/>
            <a:ext cx="9144000" cy="2133600"/>
          </a:xfrm>
          <a:prstGeom prst="rect">
            <a:avLst/>
          </a:prstGeom>
          <a:solidFill>
            <a:srgbClr val="89A5C7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3200" b="1" dirty="0">
                <a:solidFill>
                  <a:schemeClr val="bg2"/>
                </a:solidFill>
                <a:latin typeface="Times New Roman" pitchFamily="18" charset="0"/>
              </a:rPr>
              <a:t>Deployment of Web Applications</a:t>
            </a:r>
          </a:p>
        </p:txBody>
      </p:sp>
      <p:pic>
        <p:nvPicPr>
          <p:cNvPr id="21507" name="Picture 3" descr="jasthi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28800" y="2133600"/>
            <a:ext cx="12954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4419600" y="4114800"/>
            <a:ext cx="6019800" cy="2514600"/>
          </a:xfrm>
          <a:prstGeom prst="rect">
            <a:avLst/>
          </a:prstGeom>
          <a:solidFill>
            <a:srgbClr val="00FFFF">
              <a:alpha val="50195"/>
            </a:srgbClr>
          </a:solidFill>
          <a:ln w="2857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45000"/>
              </a:spcBef>
            </a:pPr>
            <a:r>
              <a:rPr kumimoji="1" lang="en-US" sz="2000" b="1" dirty="0">
                <a:solidFill>
                  <a:schemeClr val="bg2"/>
                </a:solidFill>
              </a:rPr>
              <a:t>Siva R Jasthi</a:t>
            </a:r>
          </a:p>
          <a:p>
            <a:pPr eaLnBrk="0" hangingPunct="0">
              <a:spcBef>
                <a:spcPct val="45000"/>
              </a:spcBef>
            </a:pPr>
            <a:r>
              <a:rPr kumimoji="1" lang="en-US" sz="1600" dirty="0">
                <a:solidFill>
                  <a:schemeClr val="bg2"/>
                </a:solidFill>
              </a:rPr>
              <a:t>Computer Sciences and Cybersecurity</a:t>
            </a:r>
          </a:p>
          <a:p>
            <a:pPr eaLnBrk="0" hangingPunct="0">
              <a:spcBef>
                <a:spcPct val="45000"/>
              </a:spcBef>
            </a:pPr>
            <a:r>
              <a:rPr kumimoji="1" lang="en-US" sz="1600" dirty="0">
                <a:solidFill>
                  <a:schemeClr val="bg2"/>
                </a:solidFill>
              </a:rPr>
              <a:t>Metropolitan State University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88807C-2CCC-41F7-BEB7-64DD089F31C0}"/>
              </a:ext>
            </a:extLst>
          </p:cNvPr>
          <p:cNvSpPr txBox="1"/>
          <p:nvPr/>
        </p:nvSpPr>
        <p:spPr>
          <a:xfrm>
            <a:off x="3112417" y="493820"/>
            <a:ext cx="5967167" cy="369332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spcBef>
                <a:spcPct val="45000"/>
              </a:spcBef>
            </a:pPr>
            <a:r>
              <a:rPr kumimoji="1" lang="en-US" sz="1800" dirty="0">
                <a:solidFill>
                  <a:schemeClr val="bg2"/>
                </a:solidFill>
              </a:rPr>
              <a:t>ICS499 – Software Engineering and </a:t>
            </a:r>
            <a:r>
              <a:rPr kumimoji="1" lang="en-US" sz="1800">
                <a:solidFill>
                  <a:schemeClr val="bg2"/>
                </a:solidFill>
              </a:rPr>
              <a:t>Capstone Project</a:t>
            </a:r>
            <a:endParaRPr kumimoji="1" lang="en-US" sz="1800" dirty="0">
              <a:solidFill>
                <a:schemeClr val="bg2"/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4"/>
          <p:cNvSpPr>
            <a:spLocks noGrp="1"/>
          </p:cNvSpPr>
          <p:nvPr>
            <p:ph type="title"/>
          </p:nvPr>
        </p:nvSpPr>
        <p:spPr>
          <a:xfrm>
            <a:off x="152400" y="76200"/>
            <a:ext cx="7461250" cy="808038"/>
          </a:xfrm>
        </p:spPr>
        <p:txBody>
          <a:bodyPr/>
          <a:lstStyle/>
          <a:p>
            <a:pPr eaLnBrk="1" hangingPunct="1"/>
            <a:r>
              <a:rPr lang="en-US" sz="3200" b="0" dirty="0"/>
              <a:t>Deployment of Web Applications</a:t>
            </a:r>
            <a:endParaRPr lang="en-US" sz="2400" b="0" dirty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367713" cy="4978400"/>
          </a:xfrm>
        </p:spPr>
        <p:txBody>
          <a:bodyPr/>
          <a:lstStyle/>
          <a:p>
            <a:r>
              <a:rPr lang="en-US" sz="2400" dirty="0">
                <a:sym typeface="Wingdings" pitchFamily="2" charset="2"/>
              </a:rPr>
              <a:t>Hosting Providers</a:t>
            </a:r>
          </a:p>
          <a:p>
            <a:endParaRPr lang="en-US" sz="2400" dirty="0">
              <a:sym typeface="Wingdings" pitchFamily="2" charset="2"/>
            </a:endParaRPr>
          </a:p>
          <a:p>
            <a:r>
              <a:rPr lang="en-US" sz="2400" dirty="0">
                <a:sym typeface="Wingdings" pitchFamily="2" charset="2"/>
              </a:rPr>
              <a:t>CPANEL</a:t>
            </a:r>
          </a:p>
          <a:p>
            <a:endParaRPr lang="en-US" sz="2400" dirty="0">
              <a:sym typeface="Wingdings" pitchFamily="2" charset="2"/>
            </a:endParaRPr>
          </a:p>
          <a:p>
            <a:r>
              <a:rPr lang="en-US" sz="2400" dirty="0">
                <a:sym typeface="Wingdings" pitchFamily="2" charset="2"/>
              </a:rPr>
              <a:t>Subdomains, Databases, FTP Accounts</a:t>
            </a:r>
          </a:p>
          <a:p>
            <a:endParaRPr lang="en-US" sz="2400" dirty="0">
              <a:sym typeface="Wingdings" pitchFamily="2" charset="2"/>
            </a:endParaRPr>
          </a:p>
          <a:p>
            <a:r>
              <a:rPr lang="en-US" sz="2400" dirty="0">
                <a:sym typeface="Wingdings" pitchFamily="2" charset="2"/>
              </a:rPr>
              <a:t>FileZilla </a:t>
            </a:r>
          </a:p>
          <a:p>
            <a:pPr lvl="1"/>
            <a:r>
              <a:rPr lang="en-US" sz="2000" dirty="0">
                <a:sym typeface="Wingdings" pitchFamily="2" charset="2"/>
              </a:rPr>
              <a:t>(Client to Server)</a:t>
            </a:r>
          </a:p>
          <a:p>
            <a:pPr lvl="1"/>
            <a:r>
              <a:rPr lang="en-US" sz="2000" dirty="0">
                <a:sym typeface="Wingdings" pitchFamily="2" charset="2"/>
              </a:rPr>
              <a:t>(Server to Client</a:t>
            </a:r>
            <a:endParaRPr lang="en-US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33098187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4"/>
          <p:cNvSpPr>
            <a:spLocks noGrp="1"/>
          </p:cNvSpPr>
          <p:nvPr>
            <p:ph type="title"/>
          </p:nvPr>
        </p:nvSpPr>
        <p:spPr>
          <a:xfrm>
            <a:off x="152400" y="76200"/>
            <a:ext cx="7461250" cy="808038"/>
          </a:xfrm>
        </p:spPr>
        <p:txBody>
          <a:bodyPr/>
          <a:lstStyle/>
          <a:p>
            <a:pPr eaLnBrk="1" hangingPunct="1"/>
            <a:r>
              <a:rPr lang="en-US" sz="3200" b="0" dirty="0"/>
              <a:t>Hosting Providers</a:t>
            </a:r>
            <a:endParaRPr lang="en-US" sz="2400" b="0" dirty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304800" y="5842000"/>
            <a:ext cx="10210799" cy="1016000"/>
          </a:xfrm>
        </p:spPr>
        <p:txBody>
          <a:bodyPr/>
          <a:lstStyle/>
          <a:p>
            <a:r>
              <a:rPr lang="en-US" sz="2400" dirty="0">
                <a:sym typeface="Wingdings" pitchFamily="2" charset="2"/>
              </a:rPr>
              <a:t>For example, all my projects are on </a:t>
            </a:r>
            <a:r>
              <a:rPr lang="en-US" sz="2400" dirty="0" err="1">
                <a:sym typeface="Wingdings" pitchFamily="2" charset="2"/>
              </a:rPr>
              <a:t>bluehost</a:t>
            </a:r>
            <a:endParaRPr lang="en-US" sz="2000" dirty="0"/>
          </a:p>
        </p:txBody>
      </p:sp>
      <p:pic>
        <p:nvPicPr>
          <p:cNvPr id="1026" name="Picture 2" descr="IONOS">
            <a:extLst>
              <a:ext uri="{FF2B5EF4-FFF2-40B4-BE49-F238E27FC236}">
                <a16:creationId xmlns:a16="http://schemas.microsoft.com/office/drawing/2014/main" id="{ED59EE1D-7C63-FE71-9640-5132917D5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19200"/>
            <a:ext cx="2476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ostinger">
            <a:extLst>
              <a:ext uri="{FF2B5EF4-FFF2-40B4-BE49-F238E27FC236}">
                <a16:creationId xmlns:a16="http://schemas.microsoft.com/office/drawing/2014/main" id="{33E602E4-692B-E75B-5918-130F0E214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438275"/>
            <a:ext cx="2476500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luehost">
            <a:extLst>
              <a:ext uri="{FF2B5EF4-FFF2-40B4-BE49-F238E27FC236}">
                <a16:creationId xmlns:a16="http://schemas.microsoft.com/office/drawing/2014/main" id="{20078105-6EB0-2867-323C-DAE4B5990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" y="2667000"/>
            <a:ext cx="2466975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GoDaddy">
            <a:extLst>
              <a:ext uri="{FF2B5EF4-FFF2-40B4-BE49-F238E27FC236}">
                <a16:creationId xmlns:a16="http://schemas.microsoft.com/office/drawing/2014/main" id="{4287E7F0-41DC-FEAE-060F-769E14FF8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3025" y="2649682"/>
            <a:ext cx="2476500" cy="50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Namecheap">
            <a:extLst>
              <a:ext uri="{FF2B5EF4-FFF2-40B4-BE49-F238E27FC236}">
                <a16:creationId xmlns:a16="http://schemas.microsoft.com/office/drawing/2014/main" id="{B2D283D8-505B-1DE1-D8F3-390013ADDB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778250"/>
            <a:ext cx="24765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ostGator">
            <a:extLst>
              <a:ext uri="{FF2B5EF4-FFF2-40B4-BE49-F238E27FC236}">
                <a16:creationId xmlns:a16="http://schemas.microsoft.com/office/drawing/2014/main" id="{3ADA4D3F-B890-3648-F374-8121B4ECF8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3025" y="3721100"/>
            <a:ext cx="2476500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DreamHost">
            <a:extLst>
              <a:ext uri="{FF2B5EF4-FFF2-40B4-BE49-F238E27FC236}">
                <a16:creationId xmlns:a16="http://schemas.microsoft.com/office/drawing/2014/main" id="{B76F1EBF-D52A-EF10-C8EA-3D524B00C4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1302544"/>
            <a:ext cx="2476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2 Hosting">
            <a:extLst>
              <a:ext uri="{FF2B5EF4-FFF2-40B4-BE49-F238E27FC236}">
                <a16:creationId xmlns:a16="http://schemas.microsoft.com/office/drawing/2014/main" id="{DD18086B-2EB7-A2B2-063D-FA891A456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9795" y="2602057"/>
            <a:ext cx="2476500" cy="55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HostPapa">
            <a:extLst>
              <a:ext uri="{FF2B5EF4-FFF2-40B4-BE49-F238E27FC236}">
                <a16:creationId xmlns:a16="http://schemas.microsoft.com/office/drawing/2014/main" id="{34FD4928-9F04-E4D0-D617-0D4AA58151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114" y="3783445"/>
            <a:ext cx="2476500" cy="43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3C4F2A-F329-E09E-B50D-6E4A549CA75B}"/>
              </a:ext>
            </a:extLst>
          </p:cNvPr>
          <p:cNvSpPr txBox="1"/>
          <p:nvPr/>
        </p:nvSpPr>
        <p:spPr>
          <a:xfrm>
            <a:off x="457200" y="4954587"/>
            <a:ext cx="61410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/>
                </a:solidFill>
                <a:hlinkClick r:id="rId12"/>
              </a:rPr>
              <a:t>https://www.top10.com/hosting/comparison</a:t>
            </a:r>
            <a:r>
              <a:rPr lang="en-US" dirty="0">
                <a:solidFill>
                  <a:schemeClr val="bg2"/>
                </a:solidFill>
              </a:rPr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2719920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4"/>
          <p:cNvSpPr>
            <a:spLocks noGrp="1"/>
          </p:cNvSpPr>
          <p:nvPr>
            <p:ph type="title"/>
          </p:nvPr>
        </p:nvSpPr>
        <p:spPr>
          <a:xfrm>
            <a:off x="152400" y="76200"/>
            <a:ext cx="7461250" cy="808038"/>
          </a:xfrm>
        </p:spPr>
        <p:txBody>
          <a:bodyPr/>
          <a:lstStyle/>
          <a:p>
            <a:pPr eaLnBrk="1" hangingPunct="1"/>
            <a:r>
              <a:rPr lang="en-US" sz="3200" b="0" dirty="0"/>
              <a:t>What is cPanel?</a:t>
            </a:r>
            <a:endParaRPr lang="en-US" sz="2400" b="0" dirty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152400" y="1025461"/>
            <a:ext cx="3809999" cy="1447800"/>
          </a:xfrm>
        </p:spPr>
        <p:txBody>
          <a:bodyPr/>
          <a:lstStyle/>
          <a:p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cPanel is a web-based control panel used by many hosting providers to manage website hosting accounts. </a:t>
            </a:r>
          </a:p>
          <a:p>
            <a:endParaRPr lang="en-US" sz="2400" dirty="0">
              <a:solidFill>
                <a:srgbClr val="0D0D0D"/>
              </a:solidFill>
              <a:latin typeface="Söhne"/>
            </a:endParaRPr>
          </a:p>
          <a:p>
            <a:r>
              <a:rPr lang="en-US" sz="2400" b="0" i="0" dirty="0">
                <a:solidFill>
                  <a:srgbClr val="0D0D0D"/>
                </a:solidFill>
                <a:effectLst/>
                <a:latin typeface="Söhne"/>
              </a:rPr>
              <a:t>It provides a graphical interface and automation tools designed to simplify the process of website management for both hosting providers and website owners.</a:t>
            </a:r>
            <a:endParaRPr lang="en-US" sz="2400" dirty="0"/>
          </a:p>
        </p:txBody>
      </p:sp>
      <p:pic>
        <p:nvPicPr>
          <p:cNvPr id="1026" name="Picture 2" descr="How To Access cPanel - What You Need / Where To Find cPanel">
            <a:extLst>
              <a:ext uri="{FF2B5EF4-FFF2-40B4-BE49-F238E27FC236}">
                <a16:creationId xmlns:a16="http://schemas.microsoft.com/office/drawing/2014/main" id="{CF20CC5E-92E7-22B8-F7AC-F7124D1EE8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003338"/>
            <a:ext cx="7554912" cy="4406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751883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4"/>
          <p:cNvSpPr>
            <a:spLocks noGrp="1"/>
          </p:cNvSpPr>
          <p:nvPr>
            <p:ph type="title"/>
          </p:nvPr>
        </p:nvSpPr>
        <p:spPr>
          <a:xfrm>
            <a:off x="152400" y="76200"/>
            <a:ext cx="7461250" cy="808038"/>
          </a:xfrm>
        </p:spPr>
        <p:txBody>
          <a:bodyPr/>
          <a:lstStyle/>
          <a:p>
            <a:pPr eaLnBrk="1" hangingPunct="1"/>
            <a:r>
              <a:rPr lang="en-US" sz="3200" b="0" dirty="0"/>
              <a:t>What is </a:t>
            </a:r>
            <a:r>
              <a:rPr lang="en-US" sz="3200" b="0" dirty="0" err="1"/>
              <a:t>Cpanel</a:t>
            </a:r>
            <a:r>
              <a:rPr lang="en-US" sz="3200" b="0" dirty="0"/>
              <a:t>? (Contd.)</a:t>
            </a:r>
            <a:endParaRPr lang="en-US" sz="2400" b="0" dirty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11582399" cy="1016000"/>
          </a:xfrm>
        </p:spPr>
        <p:txBody>
          <a:bodyPr/>
          <a:lstStyle/>
          <a:p>
            <a:pPr algn="l">
              <a:buFont typeface="+mj-lt"/>
              <a:buAutoNum type="arabicPeriod"/>
            </a:pPr>
            <a:r>
              <a:rPr lang="en-US" sz="1800" b="1" i="0" dirty="0">
                <a:solidFill>
                  <a:srgbClr val="0D0D0D"/>
                </a:solidFill>
                <a:effectLst/>
                <a:latin typeface="Söhne"/>
              </a:rPr>
              <a:t>File Management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: Users can upload, download, and manage files directly through the control panel using a File Manager.</a:t>
            </a:r>
          </a:p>
          <a:p>
            <a:pPr algn="l">
              <a:buFont typeface="+mj-lt"/>
              <a:buAutoNum type="arabicPeriod"/>
            </a:pPr>
            <a:r>
              <a:rPr lang="en-US" sz="1800" b="1" i="0" dirty="0">
                <a:solidFill>
                  <a:srgbClr val="0D0D0D"/>
                </a:solidFill>
                <a:effectLst/>
                <a:latin typeface="Söhne"/>
              </a:rPr>
              <a:t>Email Management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: cPanel allows users to create and manage email accounts associated with their domain, set up email forwarding, autoresponders, and spam filters.</a:t>
            </a:r>
          </a:p>
          <a:p>
            <a:pPr algn="l">
              <a:buFont typeface="+mj-lt"/>
              <a:buAutoNum type="arabicPeriod"/>
            </a:pPr>
            <a:r>
              <a:rPr lang="en-US" sz="1800" b="1" i="0" dirty="0">
                <a:solidFill>
                  <a:srgbClr val="0D0D0D"/>
                </a:solidFill>
                <a:effectLst/>
                <a:latin typeface="Söhne"/>
              </a:rPr>
              <a:t>Domain Management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: Users can add, remove, and manage domain names associated with their hosting account. They can also set up subdomains, addon domains, and parked domains.</a:t>
            </a:r>
          </a:p>
          <a:p>
            <a:pPr algn="l">
              <a:buFont typeface="+mj-lt"/>
              <a:buAutoNum type="arabicPeriod"/>
            </a:pPr>
            <a:r>
              <a:rPr lang="en-US" sz="1800" b="1" i="0" dirty="0">
                <a:solidFill>
                  <a:srgbClr val="0D0D0D"/>
                </a:solidFill>
                <a:effectLst/>
                <a:latin typeface="Söhne"/>
              </a:rPr>
              <a:t>Database Management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: cPanel provides tools for creating and managing MySQL and PostgreSQL databases, including phpMyAdmin for database administration.</a:t>
            </a:r>
          </a:p>
          <a:p>
            <a:pPr algn="l">
              <a:buFont typeface="+mj-lt"/>
              <a:buAutoNum type="arabicPeriod"/>
            </a:pPr>
            <a:r>
              <a:rPr lang="en-US" sz="1800" b="1" i="0" dirty="0">
                <a:solidFill>
                  <a:srgbClr val="0D0D0D"/>
                </a:solidFill>
                <a:effectLst/>
                <a:latin typeface="Söhne"/>
              </a:rPr>
              <a:t>Website Statistics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: Users can view various statistics about their website's performance, including traffic, visitor demographics, and bandwidth usage.</a:t>
            </a:r>
          </a:p>
          <a:p>
            <a:pPr algn="l">
              <a:buFont typeface="+mj-lt"/>
              <a:buAutoNum type="arabicPeriod"/>
            </a:pPr>
            <a:r>
              <a:rPr lang="en-US" sz="1800" b="1" i="0" dirty="0">
                <a:solidFill>
                  <a:srgbClr val="0D0D0D"/>
                </a:solidFill>
                <a:effectLst/>
                <a:latin typeface="Söhne"/>
              </a:rPr>
              <a:t>One-click Installs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: cPanel often includes a feature called </a:t>
            </a:r>
            <a:r>
              <a:rPr lang="en-US" sz="1800" b="0" i="0" dirty="0" err="1">
                <a:solidFill>
                  <a:srgbClr val="0D0D0D"/>
                </a:solidFill>
                <a:effectLst/>
                <a:latin typeface="Söhne"/>
              </a:rPr>
              <a:t>Softaculous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 or </a:t>
            </a:r>
            <a:r>
              <a:rPr lang="en-US" sz="1800" b="0" i="0" dirty="0" err="1">
                <a:solidFill>
                  <a:srgbClr val="0D0D0D"/>
                </a:solidFill>
                <a:effectLst/>
                <a:latin typeface="Söhne"/>
              </a:rPr>
              <a:t>Installatron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, which allows users to quickly install popular web applications like WordPress, Joomla, and Drupal with just a few clicks.</a:t>
            </a:r>
          </a:p>
          <a:p>
            <a:pPr algn="l">
              <a:buFont typeface="+mj-lt"/>
              <a:buAutoNum type="arabicPeriod"/>
            </a:pPr>
            <a:r>
              <a:rPr lang="en-US" sz="1800" b="1" i="0" dirty="0">
                <a:solidFill>
                  <a:srgbClr val="0D0D0D"/>
                </a:solidFill>
                <a:effectLst/>
                <a:latin typeface="Söhne"/>
              </a:rPr>
              <a:t>Security Features</a:t>
            </a:r>
            <a:r>
              <a:rPr lang="en-US" sz="1800" b="0" i="0" dirty="0">
                <a:solidFill>
                  <a:srgbClr val="0D0D0D"/>
                </a:solidFill>
                <a:effectLst/>
                <a:latin typeface="Söhne"/>
              </a:rPr>
              <a:t>: cPanel offers various security features such as password-protected directories, SSL/TLS certificate management, IP address blocking, and more.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7059334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4"/>
          <p:cNvSpPr>
            <a:spLocks noGrp="1"/>
          </p:cNvSpPr>
          <p:nvPr>
            <p:ph type="title"/>
          </p:nvPr>
        </p:nvSpPr>
        <p:spPr>
          <a:xfrm>
            <a:off x="152400" y="76200"/>
            <a:ext cx="7461250" cy="808038"/>
          </a:xfrm>
        </p:spPr>
        <p:txBody>
          <a:bodyPr/>
          <a:lstStyle/>
          <a:p>
            <a:pPr eaLnBrk="1" hangingPunct="1"/>
            <a:r>
              <a:rPr lang="en-US" sz="3200" b="0" dirty="0"/>
              <a:t>What is </a:t>
            </a:r>
            <a:r>
              <a:rPr lang="en-US" sz="3200" b="0" dirty="0" err="1"/>
              <a:t>Cpanel</a:t>
            </a:r>
            <a:r>
              <a:rPr lang="en-US" sz="3200" b="0" dirty="0"/>
              <a:t>? (Contd.)</a:t>
            </a:r>
            <a:endParaRPr lang="en-US" sz="2400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92247-58F9-C87B-2C2A-23ACF985C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3FB47D-2214-4EB0-8D31-EAB241B97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1066799"/>
            <a:ext cx="11455400" cy="557455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6160102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4"/>
          <p:cNvSpPr>
            <a:spLocks noGrp="1"/>
          </p:cNvSpPr>
          <p:nvPr>
            <p:ph type="title"/>
          </p:nvPr>
        </p:nvSpPr>
        <p:spPr>
          <a:xfrm>
            <a:off x="152400" y="76200"/>
            <a:ext cx="7461250" cy="808038"/>
          </a:xfrm>
        </p:spPr>
        <p:txBody>
          <a:bodyPr/>
          <a:lstStyle/>
          <a:p>
            <a:pPr eaLnBrk="1" hangingPunct="1"/>
            <a:r>
              <a:rPr lang="en-US" sz="3200" b="0" dirty="0"/>
              <a:t>What is </a:t>
            </a:r>
            <a:r>
              <a:rPr lang="en-US" sz="3200" b="0" dirty="0" err="1"/>
              <a:t>Cpanel</a:t>
            </a:r>
            <a:r>
              <a:rPr lang="en-US" sz="3200" b="0" dirty="0"/>
              <a:t>? (Contd.)</a:t>
            </a:r>
            <a:endParaRPr lang="en-US" sz="2400"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3F5982-1BC1-FCBB-106D-30EF85C1B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066800"/>
            <a:ext cx="11030932" cy="42672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8678851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4"/>
          <p:cNvSpPr>
            <a:spLocks noGrp="1"/>
          </p:cNvSpPr>
          <p:nvPr>
            <p:ph type="title"/>
          </p:nvPr>
        </p:nvSpPr>
        <p:spPr>
          <a:xfrm>
            <a:off x="152400" y="76200"/>
            <a:ext cx="7461250" cy="808038"/>
          </a:xfrm>
        </p:spPr>
        <p:txBody>
          <a:bodyPr/>
          <a:lstStyle/>
          <a:p>
            <a:pPr eaLnBrk="1" hangingPunct="1"/>
            <a:r>
              <a:rPr lang="en-US" sz="3200" b="0" dirty="0"/>
              <a:t>What is </a:t>
            </a:r>
            <a:r>
              <a:rPr lang="en-US" sz="3200" b="0" dirty="0" err="1"/>
              <a:t>Cpanel</a:t>
            </a:r>
            <a:r>
              <a:rPr lang="en-US" sz="3200" b="0" dirty="0"/>
              <a:t>? (Contd.)</a:t>
            </a:r>
            <a:endParaRPr lang="en-US" sz="2400" b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7EFC8D-74A8-728E-B6D4-3F49DA299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73" y="915411"/>
            <a:ext cx="10964276" cy="358038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3456638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4"/>
          <p:cNvSpPr>
            <a:spLocks noGrp="1"/>
          </p:cNvSpPr>
          <p:nvPr>
            <p:ph type="title"/>
          </p:nvPr>
        </p:nvSpPr>
        <p:spPr>
          <a:xfrm>
            <a:off x="152400" y="76200"/>
            <a:ext cx="7461250" cy="808038"/>
          </a:xfrm>
        </p:spPr>
        <p:txBody>
          <a:bodyPr/>
          <a:lstStyle/>
          <a:p>
            <a:pPr eaLnBrk="1" hangingPunct="1"/>
            <a:r>
              <a:rPr lang="en-US" sz="3200" b="0" dirty="0"/>
              <a:t>What is </a:t>
            </a:r>
            <a:r>
              <a:rPr lang="en-US" sz="3200" b="0" dirty="0" err="1"/>
              <a:t>Cpanel</a:t>
            </a:r>
            <a:r>
              <a:rPr lang="en-US" sz="3200" b="0" dirty="0"/>
              <a:t>? (Contd.)</a:t>
            </a:r>
            <a:endParaRPr lang="en-US" sz="2400" b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3903CF-95A2-58A6-D18E-2490B2822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143000"/>
            <a:ext cx="10341384" cy="2971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8969885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4"/>
          <p:cNvSpPr>
            <a:spLocks noGrp="1"/>
          </p:cNvSpPr>
          <p:nvPr>
            <p:ph type="title"/>
          </p:nvPr>
        </p:nvSpPr>
        <p:spPr>
          <a:xfrm>
            <a:off x="152400" y="76200"/>
            <a:ext cx="7461250" cy="808038"/>
          </a:xfrm>
        </p:spPr>
        <p:txBody>
          <a:bodyPr/>
          <a:lstStyle/>
          <a:p>
            <a:pPr eaLnBrk="1" hangingPunct="1"/>
            <a:r>
              <a:rPr lang="en-US" sz="3200" b="0" dirty="0"/>
              <a:t>What is </a:t>
            </a:r>
            <a:r>
              <a:rPr lang="en-US" sz="3200" b="0" dirty="0" err="1"/>
              <a:t>Cpanel</a:t>
            </a:r>
            <a:r>
              <a:rPr lang="en-US" sz="3200" b="0" dirty="0"/>
              <a:t>? (Contd.)</a:t>
            </a:r>
            <a:endParaRPr lang="en-US" sz="2400" b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020330-E99E-7BFC-4AE5-F2986D09D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219200"/>
            <a:ext cx="11111218" cy="4114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9183300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4"/>
          <p:cNvSpPr>
            <a:spLocks noGrp="1"/>
          </p:cNvSpPr>
          <p:nvPr>
            <p:ph type="title"/>
          </p:nvPr>
        </p:nvSpPr>
        <p:spPr>
          <a:xfrm>
            <a:off x="152400" y="76200"/>
            <a:ext cx="7461250" cy="808038"/>
          </a:xfrm>
        </p:spPr>
        <p:txBody>
          <a:bodyPr/>
          <a:lstStyle/>
          <a:p>
            <a:pPr eaLnBrk="1" hangingPunct="1"/>
            <a:r>
              <a:rPr lang="en-US" sz="3200" b="0" dirty="0"/>
              <a:t>What is </a:t>
            </a:r>
            <a:r>
              <a:rPr lang="en-US" sz="3200" b="0" dirty="0" err="1"/>
              <a:t>Cpanel</a:t>
            </a:r>
            <a:r>
              <a:rPr lang="en-US" sz="3200" b="0" dirty="0"/>
              <a:t>? (Contd.)</a:t>
            </a:r>
            <a:endParaRPr lang="en-US" sz="2400" b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4FA2DE-FCC3-48FF-DE76-526284FB4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066800"/>
            <a:ext cx="10660010" cy="2895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9832098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4"/>
          <p:cNvSpPr>
            <a:spLocks noGrp="1"/>
          </p:cNvSpPr>
          <p:nvPr>
            <p:ph type="title"/>
          </p:nvPr>
        </p:nvSpPr>
        <p:spPr>
          <a:xfrm>
            <a:off x="152400" y="76200"/>
            <a:ext cx="7461250" cy="808038"/>
          </a:xfrm>
        </p:spPr>
        <p:txBody>
          <a:bodyPr/>
          <a:lstStyle/>
          <a:p>
            <a:pPr eaLnBrk="1" hangingPunct="1"/>
            <a:r>
              <a:rPr lang="en-US" sz="3200" b="0" dirty="0"/>
              <a:t>What is </a:t>
            </a:r>
            <a:r>
              <a:rPr lang="en-US" sz="3200" b="0" dirty="0" err="1"/>
              <a:t>Cpanel</a:t>
            </a:r>
            <a:r>
              <a:rPr lang="en-US" sz="3200" b="0" dirty="0"/>
              <a:t>? (Contd.)</a:t>
            </a:r>
            <a:endParaRPr lang="en-US" sz="2400" b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C86F2B-2B4E-234E-B44E-4C9E21FCB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9" y="990600"/>
            <a:ext cx="11860061" cy="4343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186555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4"/>
          <p:cNvSpPr>
            <a:spLocks noGrp="1"/>
          </p:cNvSpPr>
          <p:nvPr>
            <p:ph type="title"/>
          </p:nvPr>
        </p:nvSpPr>
        <p:spPr>
          <a:xfrm>
            <a:off x="152400" y="76200"/>
            <a:ext cx="7461250" cy="808038"/>
          </a:xfrm>
        </p:spPr>
        <p:txBody>
          <a:bodyPr/>
          <a:lstStyle/>
          <a:p>
            <a:pPr eaLnBrk="1" hangingPunct="1"/>
            <a:r>
              <a:rPr lang="en-US" sz="3200" b="0" dirty="0"/>
              <a:t>Subdomains</a:t>
            </a:r>
            <a:endParaRPr lang="en-US" sz="2400" b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CC29CA-36E3-84E2-C3E8-7456BE661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304800"/>
            <a:ext cx="6309907" cy="576884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4631453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4"/>
          <p:cNvSpPr>
            <a:spLocks noGrp="1"/>
          </p:cNvSpPr>
          <p:nvPr>
            <p:ph type="title"/>
          </p:nvPr>
        </p:nvSpPr>
        <p:spPr>
          <a:xfrm>
            <a:off x="152400" y="76200"/>
            <a:ext cx="7461250" cy="808038"/>
          </a:xfrm>
        </p:spPr>
        <p:txBody>
          <a:bodyPr/>
          <a:lstStyle/>
          <a:p>
            <a:pPr eaLnBrk="1" hangingPunct="1"/>
            <a:r>
              <a:rPr lang="en-US" sz="3200" b="0" dirty="0"/>
              <a:t>FTP Accounts</a:t>
            </a:r>
            <a:endParaRPr lang="en-US" sz="2400" b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910274-DB7C-A01C-692F-3BABD9A524BD}"/>
              </a:ext>
            </a:extLst>
          </p:cNvPr>
          <p:cNvSpPr txBox="1"/>
          <p:nvPr/>
        </p:nvSpPr>
        <p:spPr>
          <a:xfrm>
            <a:off x="381000" y="982176"/>
            <a:ext cx="11049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Each FTP Account has access to one of the </a:t>
            </a:r>
            <a:r>
              <a:rPr lang="en-US" dirty="0" err="1">
                <a:solidFill>
                  <a:schemeClr val="bg2"/>
                </a:solidFill>
              </a:rPr>
              <a:t>public_html</a:t>
            </a:r>
            <a:r>
              <a:rPr lang="en-US" dirty="0">
                <a:solidFill>
                  <a:schemeClr val="bg2"/>
                </a:solidFill>
              </a:rPr>
              <a:t> folders on the remote host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You need to use a file transfer client (such as FileZilla) to move the content from the client to server.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Each project is provided with a FTP account (which will be active for the semester).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The FTP account will be disabled at the end of the semester.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445431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4"/>
          <p:cNvSpPr>
            <a:spLocks noGrp="1"/>
          </p:cNvSpPr>
          <p:nvPr>
            <p:ph type="title"/>
          </p:nvPr>
        </p:nvSpPr>
        <p:spPr>
          <a:xfrm>
            <a:off x="152400" y="76200"/>
            <a:ext cx="7461250" cy="808038"/>
          </a:xfrm>
        </p:spPr>
        <p:txBody>
          <a:bodyPr/>
          <a:lstStyle/>
          <a:p>
            <a:pPr eaLnBrk="1" hangingPunct="1"/>
            <a:r>
              <a:rPr lang="en-US" sz="3200" b="0" dirty="0"/>
              <a:t>Creation of FTP Accounts</a:t>
            </a:r>
            <a:endParaRPr lang="en-US" sz="2400" b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26F32E-6FE6-DEBD-B6D8-5517E3C2E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922338"/>
            <a:ext cx="7559695" cy="576884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46145492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4"/>
          <p:cNvSpPr>
            <a:spLocks noGrp="1"/>
          </p:cNvSpPr>
          <p:nvPr>
            <p:ph type="title"/>
          </p:nvPr>
        </p:nvSpPr>
        <p:spPr>
          <a:xfrm>
            <a:off x="152400" y="76200"/>
            <a:ext cx="7461250" cy="808038"/>
          </a:xfrm>
        </p:spPr>
        <p:txBody>
          <a:bodyPr/>
          <a:lstStyle/>
          <a:p>
            <a:pPr eaLnBrk="1" hangingPunct="1"/>
            <a:r>
              <a:rPr lang="en-US" sz="3200" b="0" dirty="0" err="1"/>
              <a:t>Filezilla</a:t>
            </a:r>
            <a:r>
              <a:rPr lang="en-US" sz="3200" b="0" dirty="0"/>
              <a:t> (Example 1)</a:t>
            </a:r>
            <a:endParaRPr lang="en-US" sz="2400" b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B77778-85D9-A41B-182F-B6753FD22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6705600" cy="53345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A8AA72F-CBD0-D3D2-51D7-873FBFD29CFB}"/>
              </a:ext>
            </a:extLst>
          </p:cNvPr>
          <p:cNvSpPr txBox="1"/>
          <p:nvPr/>
        </p:nvSpPr>
        <p:spPr>
          <a:xfrm>
            <a:off x="8077200" y="609600"/>
            <a:ext cx="35814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DevOps Engineer: is promoting the code from the FORK to UPSTREAM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Password will be given to the DEVOPS engineer.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They host the code on remote host.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And the DEMO happens on the remote host.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9934975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4"/>
          <p:cNvSpPr>
            <a:spLocks noGrp="1"/>
          </p:cNvSpPr>
          <p:nvPr>
            <p:ph type="title"/>
          </p:nvPr>
        </p:nvSpPr>
        <p:spPr>
          <a:xfrm>
            <a:off x="152400" y="76200"/>
            <a:ext cx="11125200" cy="808038"/>
          </a:xfrm>
        </p:spPr>
        <p:txBody>
          <a:bodyPr/>
          <a:lstStyle/>
          <a:p>
            <a:pPr eaLnBrk="1" hangingPunct="1"/>
            <a:r>
              <a:rPr lang="en-US" sz="3200" b="0" dirty="0" err="1"/>
              <a:t>Filezilla</a:t>
            </a:r>
            <a:r>
              <a:rPr lang="en-US" sz="3200" b="0" dirty="0"/>
              <a:t> (You can save the configuration in FileZilla Client)</a:t>
            </a:r>
            <a:endParaRPr lang="en-US" sz="2400"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659887-677D-6A74-25A3-5AB8ED384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295400"/>
            <a:ext cx="8169348" cy="443522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32483323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4"/>
          <p:cNvSpPr>
            <a:spLocks noGrp="1"/>
          </p:cNvSpPr>
          <p:nvPr>
            <p:ph type="title"/>
          </p:nvPr>
        </p:nvSpPr>
        <p:spPr>
          <a:xfrm>
            <a:off x="152400" y="76200"/>
            <a:ext cx="7461250" cy="808038"/>
          </a:xfrm>
        </p:spPr>
        <p:txBody>
          <a:bodyPr/>
          <a:lstStyle/>
          <a:p>
            <a:pPr eaLnBrk="1" hangingPunct="1"/>
            <a:r>
              <a:rPr lang="en-US" sz="3200" b="0" dirty="0" err="1"/>
              <a:t>Filezilla</a:t>
            </a:r>
            <a:r>
              <a:rPr lang="en-US" sz="3200" b="0" dirty="0"/>
              <a:t> – File Transfer Considerations</a:t>
            </a:r>
            <a:endParaRPr lang="en-US" sz="2400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8AA72F-CBD0-D3D2-51D7-873FBFD29CFB}"/>
              </a:ext>
            </a:extLst>
          </p:cNvPr>
          <p:cNvSpPr txBox="1"/>
          <p:nvPr/>
        </p:nvSpPr>
        <p:spPr>
          <a:xfrm>
            <a:off x="381000" y="1371600"/>
            <a:ext cx="112014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Any file you move from the client to the server will overwrite the existing file on the server.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It is very </a:t>
            </a:r>
            <a:r>
              <a:rPr lang="en-US" dirty="0" err="1">
                <a:solidFill>
                  <a:schemeClr val="bg2"/>
                </a:solidFill>
              </a:rPr>
              <a:t>very</a:t>
            </a:r>
            <a:r>
              <a:rPr lang="en-US" dirty="0">
                <a:solidFill>
                  <a:schemeClr val="bg2"/>
                </a:solidFill>
              </a:rPr>
              <a:t> important to ensure that you do not cause regressions on the remote host. We should always be making progress.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</a:rPr>
              <a:t>Do NOT host / move / transfer the </a:t>
            </a:r>
            <a:r>
              <a:rPr lang="en-US" dirty="0" err="1">
                <a:solidFill>
                  <a:schemeClr val="bg2"/>
                </a:solidFill>
                <a:highlight>
                  <a:srgbClr val="FFFF00"/>
                </a:highlight>
              </a:rPr>
              <a:t>db_configuration.php</a:t>
            </a:r>
            <a:r>
              <a:rPr lang="en-US" dirty="0">
                <a:solidFill>
                  <a:schemeClr val="bg2"/>
                </a:solidFill>
                <a:highlight>
                  <a:srgbClr val="FFFF00"/>
                </a:highlight>
              </a:rPr>
              <a:t> </a:t>
            </a:r>
            <a:r>
              <a:rPr lang="en-US" dirty="0">
                <a:solidFill>
                  <a:schemeClr val="bg2"/>
                </a:solidFill>
              </a:rPr>
              <a:t>file. It will overwrite the connection information and your system will not work.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953758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4"/>
          <p:cNvSpPr>
            <a:spLocks noGrp="1"/>
          </p:cNvSpPr>
          <p:nvPr>
            <p:ph type="title"/>
          </p:nvPr>
        </p:nvSpPr>
        <p:spPr>
          <a:xfrm>
            <a:off x="152400" y="76200"/>
            <a:ext cx="7461250" cy="808038"/>
          </a:xfrm>
        </p:spPr>
        <p:txBody>
          <a:bodyPr/>
          <a:lstStyle/>
          <a:p>
            <a:pPr eaLnBrk="1" hangingPunct="1"/>
            <a:r>
              <a:rPr lang="en-US" sz="3200" b="0" dirty="0"/>
              <a:t>Deployment Cheat Sheet</a:t>
            </a:r>
            <a:endParaRPr lang="en-US" sz="2400" b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8AF9F1-4354-934C-F323-408A765A59F4}"/>
              </a:ext>
            </a:extLst>
          </p:cNvPr>
          <p:cNvSpPr txBox="1"/>
          <p:nvPr/>
        </p:nvSpPr>
        <p:spPr>
          <a:xfrm>
            <a:off x="155944" y="1066800"/>
            <a:ext cx="1180745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Onetime activity (to be done by Jasthi)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2"/>
                </a:solidFill>
              </a:rPr>
              <a:t>Create a subdomain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2"/>
                </a:solidFill>
              </a:rPr>
              <a:t>Identify a </a:t>
            </a:r>
            <a:r>
              <a:rPr lang="en-US" dirty="0" err="1">
                <a:solidFill>
                  <a:schemeClr val="bg2"/>
                </a:solidFill>
              </a:rPr>
              <a:t>public_html</a:t>
            </a:r>
            <a:r>
              <a:rPr lang="en-US" dirty="0">
                <a:solidFill>
                  <a:schemeClr val="bg2"/>
                </a:solidFill>
              </a:rPr>
              <a:t> folder to hold the content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2"/>
                </a:solidFill>
              </a:rPr>
              <a:t>Create a database and import the data  (</a:t>
            </a:r>
            <a:r>
              <a:rPr lang="en-US" dirty="0" err="1">
                <a:solidFill>
                  <a:schemeClr val="bg2"/>
                </a:solidFill>
              </a:rPr>
              <a:t>eg</a:t>
            </a:r>
            <a:r>
              <a:rPr lang="en-US" dirty="0">
                <a:solidFill>
                  <a:schemeClr val="bg2"/>
                </a:solidFill>
              </a:rPr>
              <a:t>: </a:t>
            </a:r>
            <a:r>
              <a:rPr lang="en-US" dirty="0" err="1">
                <a:solidFill>
                  <a:schemeClr val="bg2"/>
                </a:solidFill>
              </a:rPr>
              <a:t>icsbinco_tandana_db</a:t>
            </a:r>
            <a:r>
              <a:rPr lang="en-US" dirty="0">
                <a:solidFill>
                  <a:schemeClr val="bg2"/>
                </a:solidFill>
              </a:rPr>
              <a:t>)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2"/>
                </a:solidFill>
              </a:rPr>
              <a:t>Create a </a:t>
            </a:r>
            <a:r>
              <a:rPr lang="en-US" dirty="0" err="1">
                <a:solidFill>
                  <a:schemeClr val="bg2"/>
                </a:solidFill>
              </a:rPr>
              <a:t>db</a:t>
            </a:r>
            <a:r>
              <a:rPr lang="en-US" dirty="0">
                <a:solidFill>
                  <a:schemeClr val="bg2"/>
                </a:solidFill>
              </a:rPr>
              <a:t> user and assign the user to the database (</a:t>
            </a:r>
            <a:r>
              <a:rPr lang="en-US" dirty="0" err="1">
                <a:solidFill>
                  <a:schemeClr val="bg2"/>
                </a:solidFill>
              </a:rPr>
              <a:t>eg</a:t>
            </a:r>
            <a:r>
              <a:rPr lang="en-US" dirty="0">
                <a:solidFill>
                  <a:schemeClr val="bg2"/>
                </a:solidFill>
              </a:rPr>
              <a:t>: </a:t>
            </a:r>
            <a:r>
              <a:rPr lang="en-US" dirty="0" err="1">
                <a:solidFill>
                  <a:schemeClr val="bg2"/>
                </a:solidFill>
              </a:rPr>
              <a:t>isbinco_admin</a:t>
            </a:r>
            <a:r>
              <a:rPr lang="en-US" dirty="0">
                <a:solidFill>
                  <a:schemeClr val="bg2"/>
                </a:solidFill>
              </a:rPr>
              <a:t>)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2"/>
                </a:solidFill>
              </a:rPr>
              <a:t>Set the configuration in a configuration file (change the </a:t>
            </a:r>
            <a:r>
              <a:rPr lang="en-US" dirty="0" err="1">
                <a:solidFill>
                  <a:schemeClr val="bg2"/>
                </a:solidFill>
              </a:rPr>
              <a:t>db</a:t>
            </a:r>
            <a:r>
              <a:rPr lang="en-US" dirty="0">
                <a:solidFill>
                  <a:schemeClr val="bg2"/>
                </a:solidFill>
              </a:rPr>
              <a:t> name, </a:t>
            </a:r>
            <a:r>
              <a:rPr lang="en-US" dirty="0" err="1">
                <a:solidFill>
                  <a:schemeClr val="bg2"/>
                </a:solidFill>
              </a:rPr>
              <a:t>db</a:t>
            </a:r>
            <a:r>
              <a:rPr lang="en-US" dirty="0">
                <a:solidFill>
                  <a:schemeClr val="bg2"/>
                </a:solidFill>
              </a:rPr>
              <a:t> user and password in the *.</a:t>
            </a:r>
            <a:r>
              <a:rPr lang="en-US" dirty="0" err="1">
                <a:solidFill>
                  <a:schemeClr val="bg2"/>
                </a:solidFill>
              </a:rPr>
              <a:t>php</a:t>
            </a:r>
            <a:r>
              <a:rPr lang="en-US" dirty="0">
                <a:solidFill>
                  <a:schemeClr val="bg2"/>
                </a:solidFill>
              </a:rPr>
              <a:t> file)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2"/>
                </a:solidFill>
              </a:rPr>
              <a:t>Create FTP account and give access to the respective project/folder</a:t>
            </a:r>
          </a:p>
          <a:p>
            <a:pPr marL="457200" indent="-457200">
              <a:buAutoNum type="arabicPeriod"/>
            </a:pPr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Do this every week (by the Project Team)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2"/>
                </a:solidFill>
                <a:highlight>
                  <a:srgbClr val="FFFF00"/>
                </a:highlight>
              </a:rPr>
              <a:t>Move the content from the client (desktop) to the remote host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2"/>
                </a:solidFill>
                <a:highlight>
                  <a:srgbClr val="FFFF00"/>
                </a:highlight>
              </a:rPr>
              <a:t>Perform the testing on the remove host</a:t>
            </a:r>
          </a:p>
          <a:p>
            <a:endParaRPr lang="en-US" dirty="0">
              <a:solidFill>
                <a:schemeClr val="bg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05533406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4"/>
          <p:cNvSpPr>
            <a:spLocks noGrp="1"/>
          </p:cNvSpPr>
          <p:nvPr>
            <p:ph type="title"/>
          </p:nvPr>
        </p:nvSpPr>
        <p:spPr>
          <a:xfrm>
            <a:off x="152400" y="76200"/>
            <a:ext cx="7461250" cy="808038"/>
          </a:xfrm>
        </p:spPr>
        <p:txBody>
          <a:bodyPr/>
          <a:lstStyle/>
          <a:p>
            <a:pPr eaLnBrk="1" hangingPunct="1"/>
            <a:r>
              <a:rPr lang="en-US" sz="3200" b="0" dirty="0"/>
              <a:t>Create a subdomain</a:t>
            </a:r>
            <a:endParaRPr lang="en-US" sz="2400" b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94AEC2-798C-1370-53BB-C0F9F75A9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143000"/>
            <a:ext cx="7734970" cy="514394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4015131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EC78-3457-240D-0D13-E7B9F9763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0"/>
            <a:ext cx="10972800" cy="1066800"/>
          </a:xfrm>
        </p:spPr>
        <p:txBody>
          <a:bodyPr/>
          <a:lstStyle/>
          <a:p>
            <a:r>
              <a:rPr lang="en-US" dirty="0"/>
              <a:t>Assigning a user to a database with privileges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E1827E-9436-E1D8-6345-DBA9581411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B24BBF3-803D-4D85-95F6-7DCF8A167AED}" type="slidenum">
              <a:rPr lang="en-GB" smtClean="0"/>
              <a:pPr>
                <a:defRPr/>
              </a:pPr>
              <a:t>21</a:t>
            </a:fld>
            <a:endParaRPr lang="en-GB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84923D-AB28-5BA6-8681-F0778FFB7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143000"/>
            <a:ext cx="8486668" cy="4823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147001"/>
      </p:ext>
    </p:extLst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EC78-3457-240D-0D13-E7B9F9763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0"/>
            <a:ext cx="10972800" cy="1066800"/>
          </a:xfrm>
        </p:spPr>
        <p:txBody>
          <a:bodyPr/>
          <a:lstStyle/>
          <a:p>
            <a:r>
              <a:rPr lang="en-US" dirty="0"/>
              <a:t>Deployment Checklist (Bluehost)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E1827E-9436-E1D8-6345-DBA9581411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B24BBF3-803D-4D85-95F6-7DCF8A167AED}" type="slidenum">
              <a:rPr lang="en-GB" smtClean="0"/>
              <a:pPr>
                <a:defRPr/>
              </a:pPr>
              <a:t>22</a:t>
            </a:fld>
            <a:endParaRPr lang="en-GB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ED3DE8-4B7C-94ED-B095-3CAE12BA15C4}"/>
              </a:ext>
            </a:extLst>
          </p:cNvPr>
          <p:cNvSpPr txBox="1"/>
          <p:nvPr/>
        </p:nvSpPr>
        <p:spPr>
          <a:xfrm>
            <a:off x="666135" y="856357"/>
            <a:ext cx="613532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rtl="0"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Checklist for Deployment:</a:t>
            </a:r>
            <a:endParaRPr lang="en-US" sz="1200" dirty="0">
              <a:solidFill>
                <a:schemeClr val="bg2"/>
              </a:solidFill>
              <a:effectLst/>
              <a:latin typeface="Calibri" panose="020F0502020204030204" pitchFamily="34" charset="0"/>
            </a:endParaRPr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Team Info:</a:t>
            </a:r>
          </a:p>
          <a:p>
            <a:pPr marL="34290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Team Name:  Dolphins</a:t>
            </a:r>
          </a:p>
          <a:p>
            <a:pPr marL="34290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Team Membership:</a:t>
            </a:r>
          </a:p>
          <a:p>
            <a:pPr marL="34290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DevOps Engineer:</a:t>
            </a:r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Project Info:</a:t>
            </a:r>
          </a:p>
          <a:p>
            <a:pPr marL="34290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GitHub Link (upstream):</a:t>
            </a:r>
          </a:p>
          <a:p>
            <a:pPr marL="34290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Trello Link:</a:t>
            </a:r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Localhost Links:</a:t>
            </a:r>
          </a:p>
          <a:p>
            <a:pPr marL="34290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Domain/URL:</a:t>
            </a:r>
          </a:p>
          <a:p>
            <a:pPr marL="34290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Database Name:</a:t>
            </a:r>
          </a:p>
          <a:p>
            <a:pPr marL="34290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Database User Name:</a:t>
            </a:r>
          </a:p>
          <a:p>
            <a:pPr marL="34290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Database User Password:</a:t>
            </a:r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 err="1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BlueHost</a:t>
            </a:r>
            <a:r>
              <a:rPr lang="en-US" sz="1200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 Links (to be provided by instructor)</a:t>
            </a:r>
          </a:p>
          <a:p>
            <a:pPr marL="34290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Domain/URL:      version4.projectabcd.com</a:t>
            </a:r>
          </a:p>
          <a:p>
            <a:pPr marL="34290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Database Name: icsbinco_</a:t>
            </a:r>
            <a:r>
              <a:rPr lang="en-US" sz="1200" dirty="0">
                <a:solidFill>
                  <a:schemeClr val="bg2"/>
                </a:solidFill>
                <a:latin typeface="Calibri" panose="020F0502020204030204" pitchFamily="34" charset="0"/>
              </a:rPr>
              <a:t>version4abcd_db</a:t>
            </a:r>
            <a:endParaRPr lang="en-US" sz="1200" dirty="0">
              <a:solidFill>
                <a:schemeClr val="bg2"/>
              </a:solidFill>
              <a:effectLst/>
              <a:latin typeface="Calibri" panose="020F0502020204030204" pitchFamily="34" charset="0"/>
            </a:endParaRPr>
          </a:p>
          <a:p>
            <a:pPr marL="34290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Database User Name: icsbinco_version4_user</a:t>
            </a:r>
          </a:p>
          <a:p>
            <a:pPr marL="34290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Database User Password: ICS325_version4</a:t>
            </a:r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marL="34290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FTP User Name: version4@jasthi.com</a:t>
            </a:r>
          </a:p>
          <a:p>
            <a:pPr marL="34290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FTP User Password: ICS325_version4</a:t>
            </a:r>
          </a:p>
          <a:p>
            <a:pPr marL="34290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FTP home directory: </a:t>
            </a:r>
            <a:r>
              <a:rPr lang="en-US" sz="1200" dirty="0" err="1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public_html</a:t>
            </a:r>
            <a:r>
              <a:rPr lang="en-US" sz="1200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/version4</a:t>
            </a:r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Deployment Instructions:</a:t>
            </a:r>
          </a:p>
          <a:p>
            <a:pPr marL="34290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Received the instructions from the instructor:  ( ) yes  ( ) not yet</a:t>
            </a:r>
          </a:p>
          <a:p>
            <a:pPr marL="342900" marR="0" rtl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chemeClr val="bg2"/>
                </a:solidFill>
                <a:effectLst/>
                <a:latin typeface="Calibri" panose="020F0502020204030204" pitchFamily="34" charset="0"/>
              </a:rPr>
              <a:t>Team able to deploy changes using FileZilla:  ( ) yes  ( ) not yet</a:t>
            </a:r>
          </a:p>
        </p:txBody>
      </p:sp>
    </p:spTree>
    <p:extLst>
      <p:ext uri="{BB962C8B-B14F-4D97-AF65-F5344CB8AC3E}">
        <p14:creationId xmlns:p14="http://schemas.microsoft.com/office/powerpoint/2010/main" val="3454254373"/>
      </p:ext>
    </p:extLst>
  </p:cSld>
  <p:clrMapOvr>
    <a:masterClrMapping/>
  </p:clrMapOvr>
  <p:transition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4"/>
          <p:cNvSpPr>
            <a:spLocks noGrp="1"/>
          </p:cNvSpPr>
          <p:nvPr>
            <p:ph type="title"/>
          </p:nvPr>
        </p:nvSpPr>
        <p:spPr>
          <a:xfrm>
            <a:off x="152400" y="76200"/>
            <a:ext cx="7461250" cy="808038"/>
          </a:xfrm>
        </p:spPr>
        <p:txBody>
          <a:bodyPr/>
          <a:lstStyle/>
          <a:p>
            <a:pPr eaLnBrk="1" hangingPunct="1"/>
            <a:r>
              <a:rPr lang="en-US" sz="3200" b="0" dirty="0"/>
              <a:t>Summary</a:t>
            </a:r>
            <a:endParaRPr lang="en-US" sz="2400" b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8AF9F1-4354-934C-F323-408A765A59F4}"/>
              </a:ext>
            </a:extLst>
          </p:cNvPr>
          <p:cNvSpPr txBox="1"/>
          <p:nvPr/>
        </p:nvSpPr>
        <p:spPr>
          <a:xfrm>
            <a:off x="381000" y="1600200"/>
            <a:ext cx="11453713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800" dirty="0">
                <a:solidFill>
                  <a:schemeClr val="bg2"/>
                </a:solidFill>
              </a:rPr>
              <a:t>Create a subdomain</a:t>
            </a:r>
          </a:p>
          <a:p>
            <a:pPr marL="457200" indent="-457200">
              <a:buAutoNum type="arabicPeriod"/>
            </a:pPr>
            <a:r>
              <a:rPr lang="en-US" sz="2800" dirty="0">
                <a:solidFill>
                  <a:schemeClr val="bg2"/>
                </a:solidFill>
              </a:rPr>
              <a:t>Identify a </a:t>
            </a:r>
            <a:r>
              <a:rPr lang="en-US" sz="2800" dirty="0" err="1">
                <a:solidFill>
                  <a:schemeClr val="bg2"/>
                </a:solidFill>
              </a:rPr>
              <a:t>public_html</a:t>
            </a:r>
            <a:r>
              <a:rPr lang="en-US" sz="2800" dirty="0">
                <a:solidFill>
                  <a:schemeClr val="bg2"/>
                </a:solidFill>
              </a:rPr>
              <a:t> folder to hold the content</a:t>
            </a:r>
          </a:p>
          <a:p>
            <a:pPr marL="457200" indent="-457200">
              <a:buAutoNum type="arabicPeriod"/>
            </a:pPr>
            <a:r>
              <a:rPr lang="en-US" sz="2800" dirty="0">
                <a:solidFill>
                  <a:schemeClr val="bg2"/>
                </a:solidFill>
              </a:rPr>
              <a:t>Create a database and import the data</a:t>
            </a:r>
          </a:p>
          <a:p>
            <a:pPr marL="457200" indent="-457200">
              <a:buAutoNum type="arabicPeriod"/>
            </a:pPr>
            <a:r>
              <a:rPr lang="en-US" sz="2800" dirty="0">
                <a:solidFill>
                  <a:schemeClr val="bg2"/>
                </a:solidFill>
              </a:rPr>
              <a:t>Set the configuration in a configuration file</a:t>
            </a:r>
          </a:p>
          <a:p>
            <a:pPr marL="457200" indent="-457200">
              <a:buAutoNum type="arabicPeriod"/>
            </a:pPr>
            <a:r>
              <a:rPr lang="en-US" sz="2800" dirty="0">
                <a:solidFill>
                  <a:schemeClr val="bg2"/>
                </a:solidFill>
              </a:rPr>
              <a:t>Create FTP account and give access to the respective project/folder</a:t>
            </a:r>
          </a:p>
          <a:p>
            <a:pPr marL="457200" indent="-457200">
              <a:buAutoNum type="arabicPeriod"/>
            </a:pPr>
            <a:r>
              <a:rPr lang="en-US" sz="2800" dirty="0">
                <a:solidFill>
                  <a:schemeClr val="bg2"/>
                </a:solidFill>
              </a:rPr>
              <a:t>Move the content from the client (desktop) to the remote host</a:t>
            </a:r>
          </a:p>
          <a:p>
            <a:pPr marL="457200" indent="-457200">
              <a:buAutoNum type="arabicPeriod"/>
            </a:pPr>
            <a:r>
              <a:rPr lang="en-US" sz="2800" dirty="0">
                <a:solidFill>
                  <a:schemeClr val="bg2"/>
                </a:solidFill>
              </a:rPr>
              <a:t>Perform the testing on the remove host</a:t>
            </a:r>
          </a:p>
          <a:p>
            <a:endParaRPr lang="en-US" sz="2800" dirty="0">
              <a:solidFill>
                <a:schemeClr val="bg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34797120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>
          <a:noFill/>
          <a:ln/>
        </p:spPr>
        <p:txBody>
          <a:bodyPr/>
          <a:lstStyle/>
          <a:p>
            <a:pPr marL="190500" lvl="1" indent="-188913">
              <a:buNone/>
            </a:pPr>
            <a:endParaRPr lang="en-US" dirty="0"/>
          </a:p>
        </p:txBody>
      </p:sp>
      <p:pic>
        <p:nvPicPr>
          <p:cNvPr id="4" name="Picture 2" descr="C:\Program Files\Microsoft Resource DVD Artwork\DVD_ART\Artwork_Imagery\Shapes and Graphics\MSN Illustration Icon\MSN icon help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48100" y="1524001"/>
            <a:ext cx="4495800" cy="4263703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9210138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2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jasthi">
  <a:themeElements>
    <a:clrScheme name="jasthi.pot 9">
      <a:dk1>
        <a:srgbClr val="220011"/>
      </a:dk1>
      <a:lt1>
        <a:srgbClr val="FFFFFF"/>
      </a:lt1>
      <a:dk2>
        <a:srgbClr val="0F3A68"/>
      </a:dk2>
      <a:lt2>
        <a:srgbClr val="FFFFFF"/>
      </a:lt2>
      <a:accent1>
        <a:srgbClr val="CAD704"/>
      </a:accent1>
      <a:accent2>
        <a:srgbClr val="204658"/>
      </a:accent2>
      <a:accent3>
        <a:srgbClr val="AAAEB9"/>
      </a:accent3>
      <a:accent4>
        <a:srgbClr val="DADADA"/>
      </a:accent4>
      <a:accent5>
        <a:srgbClr val="E1E8AA"/>
      </a:accent5>
      <a:accent6>
        <a:srgbClr val="1C3F4F"/>
      </a:accent6>
      <a:hlink>
        <a:srgbClr val="000066"/>
      </a:hlink>
      <a:folHlink>
        <a:srgbClr val="F07600"/>
      </a:folHlink>
    </a:clrScheme>
    <a:fontScheme name="jasthi.po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FFFF">
            <a:alpha val="50000"/>
          </a:srgbClr>
        </a:solidFill>
        <a:ln w="28575" cap="flat" cmpd="sng" algn="ctr">
          <a:solidFill>
            <a:schemeClr val="bg1"/>
          </a:solidFill>
          <a:prstDash val="solid"/>
          <a:round/>
          <a:headEnd type="none" w="sm" len="sm"/>
          <a:tailEnd type="stealth" w="lg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FFFF">
            <a:alpha val="50000"/>
          </a:srgbClr>
        </a:solidFill>
        <a:ln w="28575" cap="flat" cmpd="sng" algn="ctr">
          <a:solidFill>
            <a:schemeClr val="bg1"/>
          </a:solidFill>
          <a:prstDash val="solid"/>
          <a:round/>
          <a:headEnd type="none" w="sm" len="sm"/>
          <a:tailEnd type="stealth" w="lg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jasthi.pot 1">
        <a:dk1>
          <a:srgbClr val="220011"/>
        </a:dk1>
        <a:lt1>
          <a:srgbClr val="FFFFCC"/>
        </a:lt1>
        <a:dk2>
          <a:srgbClr val="660033"/>
        </a:dk2>
        <a:lt2>
          <a:srgbClr val="FFCC00"/>
        </a:lt2>
        <a:accent1>
          <a:srgbClr val="CC0099"/>
        </a:accent1>
        <a:accent2>
          <a:srgbClr val="56002B"/>
        </a:accent2>
        <a:accent3>
          <a:srgbClr val="B8AAAD"/>
        </a:accent3>
        <a:accent4>
          <a:srgbClr val="DADAAE"/>
        </a:accent4>
        <a:accent5>
          <a:srgbClr val="E2AACA"/>
        </a:accent5>
        <a:accent6>
          <a:srgbClr val="4D0026"/>
        </a:accent6>
        <a:hlink>
          <a:srgbClr val="9C004E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asthi.pot 2">
        <a:dk1>
          <a:srgbClr val="000F1E"/>
        </a:dk1>
        <a:lt1>
          <a:srgbClr val="FFFFFF"/>
        </a:lt1>
        <a:dk2>
          <a:srgbClr val="003366"/>
        </a:dk2>
        <a:lt2>
          <a:srgbClr val="33CCCC"/>
        </a:lt2>
        <a:accent1>
          <a:srgbClr val="006699"/>
        </a:accent1>
        <a:accent2>
          <a:srgbClr val="003366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2D5C"/>
        </a:accent6>
        <a:hlink>
          <a:srgbClr val="0099CC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asthi.pot 3">
        <a:dk1>
          <a:srgbClr val="002F2E"/>
        </a:dk1>
        <a:lt1>
          <a:srgbClr val="FFFFFF"/>
        </a:lt1>
        <a:dk2>
          <a:srgbClr val="008080"/>
        </a:dk2>
        <a:lt2>
          <a:srgbClr val="66FFCC"/>
        </a:lt2>
        <a:accent1>
          <a:srgbClr val="0099CC"/>
        </a:accent1>
        <a:accent2>
          <a:srgbClr val="005250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4948"/>
        </a:accent6>
        <a:hlink>
          <a:srgbClr val="00CC99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asthi.pot 4">
        <a:dk1>
          <a:srgbClr val="000022"/>
        </a:dk1>
        <a:lt1>
          <a:srgbClr val="FFFFFF"/>
        </a:lt1>
        <a:dk2>
          <a:srgbClr val="000066"/>
        </a:dk2>
        <a:lt2>
          <a:srgbClr val="FFCC00"/>
        </a:lt2>
        <a:accent1>
          <a:srgbClr val="666699"/>
        </a:accent1>
        <a:accent2>
          <a:srgbClr val="000048"/>
        </a:accent2>
        <a:accent3>
          <a:srgbClr val="AAAAB8"/>
        </a:accent3>
        <a:accent4>
          <a:srgbClr val="DADADA"/>
        </a:accent4>
        <a:accent5>
          <a:srgbClr val="B8B8CA"/>
        </a:accent5>
        <a:accent6>
          <a:srgbClr val="000040"/>
        </a:accent6>
        <a:hlink>
          <a:srgbClr val="9999FF"/>
        </a:hlink>
        <a:folHlink>
          <a:srgbClr val="00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asthi.pot 5">
        <a:dk1>
          <a:srgbClr val="663300"/>
        </a:dk1>
        <a:lt1>
          <a:srgbClr val="FFFFFF"/>
        </a:lt1>
        <a:dk2>
          <a:srgbClr val="000000"/>
        </a:dk2>
        <a:lt2>
          <a:srgbClr val="FFFF99"/>
        </a:lt2>
        <a:accent1>
          <a:srgbClr val="FFCC66"/>
        </a:accent1>
        <a:accent2>
          <a:srgbClr val="FFFFCC"/>
        </a:accent2>
        <a:accent3>
          <a:srgbClr val="FFFFFF"/>
        </a:accent3>
        <a:accent4>
          <a:srgbClr val="562A00"/>
        </a:accent4>
        <a:accent5>
          <a:srgbClr val="FFE2B8"/>
        </a:accent5>
        <a:accent6>
          <a:srgbClr val="E7E7B9"/>
        </a:accent6>
        <a:hlink>
          <a:srgbClr val="FFCC00"/>
        </a:hlink>
        <a:folHlink>
          <a:srgbClr val="FF7C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asthi.pot 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4D4D4D"/>
        </a:hlink>
        <a:folHlink>
          <a:srgbClr val="86868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asthi.pot 7">
        <a:dk1>
          <a:srgbClr val="220011"/>
        </a:dk1>
        <a:lt1>
          <a:srgbClr val="FFFFFF"/>
        </a:lt1>
        <a:dk2>
          <a:srgbClr val="0F3A68"/>
        </a:dk2>
        <a:lt2>
          <a:srgbClr val="FFFFFF"/>
        </a:lt2>
        <a:accent1>
          <a:srgbClr val="CAD704"/>
        </a:accent1>
        <a:accent2>
          <a:srgbClr val="204658"/>
        </a:accent2>
        <a:accent3>
          <a:srgbClr val="AAAEB9"/>
        </a:accent3>
        <a:accent4>
          <a:srgbClr val="DADADA"/>
        </a:accent4>
        <a:accent5>
          <a:srgbClr val="E1E8AA"/>
        </a:accent5>
        <a:accent6>
          <a:srgbClr val="1C3F4F"/>
        </a:accent6>
        <a:hlink>
          <a:srgbClr val="9C004E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asthi.pot 8">
        <a:dk1>
          <a:srgbClr val="220011"/>
        </a:dk1>
        <a:lt1>
          <a:srgbClr val="FFFFFF"/>
        </a:lt1>
        <a:dk2>
          <a:srgbClr val="0F3A68"/>
        </a:dk2>
        <a:lt2>
          <a:srgbClr val="FFFFFF"/>
        </a:lt2>
        <a:accent1>
          <a:srgbClr val="CAD704"/>
        </a:accent1>
        <a:accent2>
          <a:srgbClr val="204658"/>
        </a:accent2>
        <a:accent3>
          <a:srgbClr val="AAAEB9"/>
        </a:accent3>
        <a:accent4>
          <a:srgbClr val="DADADA"/>
        </a:accent4>
        <a:accent5>
          <a:srgbClr val="E1E8AA"/>
        </a:accent5>
        <a:accent6>
          <a:srgbClr val="1C3F4F"/>
        </a:accent6>
        <a:hlink>
          <a:srgbClr val="FFC94C"/>
        </a:hlink>
        <a:folHlink>
          <a:srgbClr val="F07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asthi.pot 9">
        <a:dk1>
          <a:srgbClr val="220011"/>
        </a:dk1>
        <a:lt1>
          <a:srgbClr val="FFFFFF"/>
        </a:lt1>
        <a:dk2>
          <a:srgbClr val="0F3A68"/>
        </a:dk2>
        <a:lt2>
          <a:srgbClr val="FFFFFF"/>
        </a:lt2>
        <a:accent1>
          <a:srgbClr val="CAD704"/>
        </a:accent1>
        <a:accent2>
          <a:srgbClr val="204658"/>
        </a:accent2>
        <a:accent3>
          <a:srgbClr val="AAAEB9"/>
        </a:accent3>
        <a:accent4>
          <a:srgbClr val="DADADA"/>
        </a:accent4>
        <a:accent5>
          <a:srgbClr val="E1E8AA"/>
        </a:accent5>
        <a:accent6>
          <a:srgbClr val="1C3F4F"/>
        </a:accent6>
        <a:hlink>
          <a:srgbClr val="000066"/>
        </a:hlink>
        <a:folHlink>
          <a:srgbClr val="F076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Office\Templates\jasthi.pot</Template>
  <TotalTime>621</TotalTime>
  <Pages>25</Pages>
  <Words>923</Words>
  <Application>Microsoft Office PowerPoint</Application>
  <PresentationFormat>Widescreen</PresentationFormat>
  <Paragraphs>122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Book Antiqua</vt:lpstr>
      <vt:lpstr>Calibri</vt:lpstr>
      <vt:lpstr>Siemens Sans</vt:lpstr>
      <vt:lpstr>Söhne</vt:lpstr>
      <vt:lpstr>Times New Roman</vt:lpstr>
      <vt:lpstr>Wingdings</vt:lpstr>
      <vt:lpstr>jasthi</vt:lpstr>
      <vt:lpstr>PowerPoint Presentation</vt:lpstr>
      <vt:lpstr>Deployment of Web Applications</vt:lpstr>
      <vt:lpstr>Hosting Providers</vt:lpstr>
      <vt:lpstr>What is cPanel?</vt:lpstr>
      <vt:lpstr>What is Cpanel? (Contd.)</vt:lpstr>
      <vt:lpstr>What is Cpanel? (Contd.)</vt:lpstr>
      <vt:lpstr>What is Cpanel? (Contd.)</vt:lpstr>
      <vt:lpstr>What is Cpanel? (Contd.)</vt:lpstr>
      <vt:lpstr>What is Cpanel? (Contd.)</vt:lpstr>
      <vt:lpstr>What is Cpanel? (Contd.)</vt:lpstr>
      <vt:lpstr>What is Cpanel? (Contd.)</vt:lpstr>
      <vt:lpstr>What is Cpanel? (Contd.)</vt:lpstr>
      <vt:lpstr>Subdomains</vt:lpstr>
      <vt:lpstr>FTP Accounts</vt:lpstr>
      <vt:lpstr>Creation of FTP Accounts</vt:lpstr>
      <vt:lpstr>Filezilla (Example 1)</vt:lpstr>
      <vt:lpstr>Filezilla (You can save the configuration in FileZilla Client)</vt:lpstr>
      <vt:lpstr>Filezilla – File Transfer Considerations</vt:lpstr>
      <vt:lpstr>Deployment Cheat Sheet</vt:lpstr>
      <vt:lpstr>Create a subdomain</vt:lpstr>
      <vt:lpstr>Assigning a user to a database with privileges</vt:lpstr>
      <vt:lpstr>Deployment Checklist (Bluehost)</vt:lpstr>
      <vt:lpstr>Summary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Computing Fundamentals with C++</dc:title>
  <dc:subject>Lecture notes for CmpSc 101, 201, 203</dc:subject>
  <dc:creator>Rick Mercer - Instructor of Engineering and Computer Science</dc:creator>
  <cp:keywords>Chapter 6</cp:keywords>
  <cp:lastModifiedBy>Jasthi, Jasthi (DI SW PLM LCS DEVOPS)</cp:lastModifiedBy>
  <cp:revision>526</cp:revision>
  <cp:lastPrinted>2001-01-24T14:10:52Z</cp:lastPrinted>
  <dcterms:created xsi:type="dcterms:W3CDTF">1996-11-12T16:26:02Z</dcterms:created>
  <dcterms:modified xsi:type="dcterms:W3CDTF">2025-07-31T23:33:47Z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2F7729D9-822F-490E-B637-6C89EB1AAAC2</vt:lpwstr>
  </property>
  <property fmtid="{D5CDD505-2E9C-101B-9397-08002B2CF9AE}" pid="3" name="ArticulatePath">
    <vt:lpwstr>ics370_itertive evolutionary and agile_ch3_4_5_6</vt:lpwstr>
  </property>
  <property fmtid="{D5CDD505-2E9C-101B-9397-08002B2CF9AE}" pid="4" name="MSIP_Label_9d258917-277f-42cd-a3cd-14c4e9ee58bc_Enabled">
    <vt:lpwstr>true</vt:lpwstr>
  </property>
  <property fmtid="{D5CDD505-2E9C-101B-9397-08002B2CF9AE}" pid="5" name="MSIP_Label_9d258917-277f-42cd-a3cd-14c4e9ee58bc_SetDate">
    <vt:lpwstr>2023-10-23T22:19:55Z</vt:lpwstr>
  </property>
  <property fmtid="{D5CDD505-2E9C-101B-9397-08002B2CF9AE}" pid="6" name="MSIP_Label_9d258917-277f-42cd-a3cd-14c4e9ee58bc_Method">
    <vt:lpwstr>Standard</vt:lpwstr>
  </property>
  <property fmtid="{D5CDD505-2E9C-101B-9397-08002B2CF9AE}" pid="7" name="MSIP_Label_9d258917-277f-42cd-a3cd-14c4e9ee58bc_Name">
    <vt:lpwstr>restricted</vt:lpwstr>
  </property>
  <property fmtid="{D5CDD505-2E9C-101B-9397-08002B2CF9AE}" pid="8" name="MSIP_Label_9d258917-277f-42cd-a3cd-14c4e9ee58bc_SiteId">
    <vt:lpwstr>38ae3bcd-9579-4fd4-adda-b42e1495d55a</vt:lpwstr>
  </property>
  <property fmtid="{D5CDD505-2E9C-101B-9397-08002B2CF9AE}" pid="9" name="MSIP_Label_9d258917-277f-42cd-a3cd-14c4e9ee58bc_ActionId">
    <vt:lpwstr>f8d4934b-babd-4597-b074-9fbac5f611be</vt:lpwstr>
  </property>
  <property fmtid="{D5CDD505-2E9C-101B-9397-08002B2CF9AE}" pid="10" name="MSIP_Label_9d258917-277f-42cd-a3cd-14c4e9ee58bc_ContentBits">
    <vt:lpwstr>0</vt:lpwstr>
  </property>
  <property fmtid="{D5CDD505-2E9C-101B-9397-08002B2CF9AE}" pid="11" name="Document_Confidentiality">
    <vt:lpwstr>Restricted</vt:lpwstr>
  </property>
</Properties>
</file>